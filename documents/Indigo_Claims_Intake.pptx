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1763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Say:
“This submission focuses on the three technical capabilities requested in the brief: a secure and maintainable Azure target shape, a minimal cloud baseline expressed as Infrastructure as Code, and Azure DevOps CI/CD with controlled promotion.
I deliberately did not build the Claims application because the brief explicitly puts full .NET implementation and detailed database work out of scope.
The governing principle is that vendors implement within the baseline, while Indigo retains ownership of the guardrails and production release authority.”
Then switch to VS Code and show the repository root: README.md, SOLUTION.md, infra/, and pipelines/.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0:45–1:15
Say:
“The submission is intentionally narrow. It proves the three capabilities the brief asks me to demonstrate: the Azure target architecture, the Bicep cloud baseline, and the controlled Azure DevOps promotion model.
I have also validated the Infrastructure as Code locally. Bicep lint and build now complete successfully and produce main.json, which is the compiled Azure Resource Manager template.”
On screen in VS Code, briefly show the repository root and then open SOLUTION.md.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1:15–2:20
Show: SOLUTION.md architecture section or this slide.
Say:
“The target is intentionally small and production-minded. Microsoft Entra ID is the identity boundary. Azure App Service hosts the future .NET Claims Intake API. Azure SQL is the relational system of record, Key Vault owns secrets and sensitive runtime configuration, and Application Insights with Log Analytics provides logs, metrics, traces and diagnostics.
For duplicate submissions, externalReference is the idempotency key. The future application should first check whether the reference already exists, while Azure SQL should additionally enforce a unique constraint as the final concurrency-safe guard.
I have not added a separate Azure Load Balancer. For this single-region App Service baseline, platform scale-out handles traffic across instances. I would only add a global edge or routing layer if multi-region failover, WAF or global routing becomes a real requirement.
I also selected App Service rather than AKS because one small API does not justify Kubernetes cluster and operational overhead.”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2:20–3:45
Show in VS Code: infra/main.bicep, expand infra/modules, then open infra/parameters/dev.bicepparam.
Say:
“Bicep is the Azure Infrastructure-as-Code layer. Instead of manually creating resources in the Azure Portal, the infrastructure is declared in version-controlled code so it is repeatable, reviewable and auditable.
main.bicep is the orchestration entry point. It composes small modules for App Service, Azure SQL, Key Vault, Key Vault RBAC and monitoring. The modular structure is intentionally vendor-friendly because a change to one Azure concern can be reviewed without turning the infrastructure into one large file.
The App Service module provides the hosting plan, HTTPS/TLS baseline and system-assigned Managed Identity. The Key Vault role module grants that identity least-privilege secret-read access.
DEV is the single deployable non-production baseline requested by the brief. Production reuses the same template with different parameters rather than copying the infrastructure definition, which reduces environment drift.
I have now run az bicep lint and az bicep build successfully, and main.json was generated. That confirms the Bicep baseline compiles to an ARM deployment template.”
Optional: show main.json briefly, but do not explain its generated JSON.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3:45–5:25
Show: pipelines/azure-pipelines.yml.
Say:
“The pipeline is deliberately minimal. The Build stage is where the quality and security integration points run and where Bicep is linted and compiled. If a mandatory check fails, promotion stops.
The validated Infrastructure-as-Code artifact is published once. DEV then downloads that artifact, validates it against Azure and deploys the non-production baseline.
The strongest governance decision is the Production boundary. The YAML targets an Azure DevOps Environment called claims-prod, but the approval and checks belong to that protected Environment rather than being defined only in this repository file.
That means a vendor may propose pipeline changes through a pull request, but cannot remove Indigo’s production release authority merely by editing YAML.
Production then consumes the same validated main.json artifact rather than rebuilding the infrastructure from different source. This improves traceability: build once, promote the same artifact.”
Also mention: main should be protected by PR review and build validation, and Indigo review should be required for governance-impacting IaC or pipeline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5:25–6:20
Show: responsibility table in SOLUTION.md.
Say:
“The ownership boundary is explicit. Indigo owns the reference architecture, Azure access model, Bicep baseline, Key Vault policy and Production promotion. Vendors implement inside those guardrails, provide quality evidence, remediate findings and maintain the required handover material.
For Claims data, the production expectation is Entra-based authentication and authorisation, least-privilege Azure RBAC, Managed Identity, Key Vault and TLS. Operational logs should contain correlation and claim identifiers rather than claim descriptions, policy details or personal information.
The intent is automated governance rather than manual bureaucracy: encode the safe path in Infrastructure as Code, branch policies, pipeline gates and protected environments.”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6:20–7:10
Show: trade-offs section in SOLUTION.md or remain on this final slide.
Say:
“The main design decision was to keep the solution proportional to the brief. I selected App Service rather than AKS, did not add a separate load balancer, messaging platform or API Management, and did not build application code that the assignment explicitly excludes. Each of those can be introduced later if a concrete requirement justifies the extra operational surface.
The result is a small baseline vendors can adopt quickly: Azure infrastructure is repeatable, secrets are externalised, observability is built in, environment differences are parameterised, and Production promotion remains under Indigo control.”
Closing line:
“In short, the compliant path is the easiest path: review the change, validate the baseline, deploy DEV, and promote to Production only through Indigo-owned controls.”
Stop recording.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B1F33"/>
          </a:solidFill>
          <a:ln w="12700">
            <a:solidFill>
              <a:srgbClr val="0B1F33"/>
            </a:solidFill>
            <a:prstDash val="solid"/>
          </a:ln>
        </p:spPr>
        <p:txBody>
          <a:bodyPr/>
          <a:lstStyle/>
          <a:p>
            <a:endParaRPr lang="en-US"/>
          </a:p>
        </p:txBody>
      </p:sp>
      <p:sp>
        <p:nvSpPr>
          <p:cNvPr id="3" name="Shape 1"/>
          <p:cNvSpPr/>
          <p:nvPr/>
        </p:nvSpPr>
        <p:spPr>
          <a:xfrm>
            <a:off x="594360" y="6473952"/>
            <a:ext cx="11018520" cy="0"/>
          </a:xfrm>
          <a:prstGeom prst="line">
            <a:avLst/>
          </a:prstGeom>
          <a:noFill/>
          <a:ln w="12700">
            <a:solidFill>
              <a:srgbClr val="D7DEE8"/>
            </a:solidFill>
            <a:prstDash val="solid"/>
          </a:ln>
        </p:spPr>
        <p:txBody>
          <a:bodyPr/>
          <a:lstStyle/>
          <a:p>
            <a:endParaRPr lang="en-US"/>
          </a:p>
        </p:txBody>
      </p:sp>
      <p:sp>
        <p:nvSpPr>
          <p:cNvPr id="4" name="Text 2"/>
          <p:cNvSpPr/>
          <p:nvPr/>
        </p:nvSpPr>
        <p:spPr>
          <a:xfrm>
            <a:off x="621792" y="6501384"/>
            <a:ext cx="6400800" cy="201168"/>
          </a:xfrm>
          <a:prstGeom prst="rect">
            <a:avLst/>
          </a:prstGeom>
          <a:noFill/>
          <a:ln/>
        </p:spPr>
        <p:txBody>
          <a:bodyPr wrap="square" lIns="0" tIns="0" rIns="0" bIns="0" rtlCol="0" anchor="ctr"/>
          <a:lstStyle/>
          <a:p>
            <a:pPr marL="0" indent="0">
              <a:buNone/>
            </a:pPr>
            <a:r>
              <a:rPr lang="en-US" sz="850" dirty="0">
                <a:solidFill>
                  <a:srgbClr val="6C7A89"/>
                </a:solidFill>
                <a:latin typeface="Aptos" pitchFamily="34" charset="0"/>
                <a:ea typeface="Aptos" pitchFamily="34" charset="-122"/>
                <a:cs typeface="Aptos" pitchFamily="34" charset="-120"/>
              </a:rPr>
              <a:t>Indigo Claims Intake • Technical Governance Vetting</a:t>
            </a:r>
            <a:endParaRPr lang="en-US" sz="850" dirty="0"/>
          </a:p>
        </p:txBody>
      </p:sp>
      <p:sp>
        <p:nvSpPr>
          <p:cNvPr id="5" name="Text 3"/>
          <p:cNvSpPr/>
          <p:nvPr/>
        </p:nvSpPr>
        <p:spPr>
          <a:xfrm>
            <a:off x="9784080" y="6501384"/>
            <a:ext cx="1783080" cy="201168"/>
          </a:xfrm>
          <a:prstGeom prst="rect">
            <a:avLst/>
          </a:prstGeom>
          <a:noFill/>
          <a:ln/>
        </p:spPr>
        <p:txBody>
          <a:bodyPr wrap="square" lIns="0" tIns="0" rIns="0" bIns="0" rtlCol="0" anchor="ctr"/>
          <a:lstStyle/>
          <a:p>
            <a:pPr marL="0" indent="0" algn="r">
              <a:buNone/>
            </a:pPr>
            <a:r>
              <a:rPr lang="en-US" sz="850" dirty="0">
                <a:solidFill>
                  <a:srgbClr val="6C7A89"/>
                </a:solidFill>
                <a:latin typeface="Aptos" pitchFamily="34" charset="0"/>
              </a:rPr>
              <a:t>Chales Nolte – V1.0.1</a:t>
            </a:r>
            <a:endParaRPr lang="en-US" sz="850" dirty="0"/>
          </a:p>
        </p:txBody>
      </p:sp>
      <p:sp>
        <p:nvSpPr>
          <p:cNvPr id="25"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164592"/>
            <a:ext cx="12191695" cy="2057400"/>
          </a:xfrm>
          <a:prstGeom prst="rect">
            <a:avLst/>
          </a:prstGeom>
          <a:solidFill>
            <a:srgbClr val="0B1F33"/>
          </a:solidFill>
          <a:ln w="12700">
            <a:solidFill>
              <a:srgbClr val="0B1F33"/>
            </a:solidFill>
            <a:prstDash val="solid"/>
          </a:ln>
        </p:spPr>
        <p:txBody>
          <a:bodyPr/>
          <a:lstStyle/>
          <a:p>
            <a:endParaRPr lang="en-US"/>
          </a:p>
        </p:txBody>
      </p:sp>
      <p:sp>
        <p:nvSpPr>
          <p:cNvPr id="3" name="Text 1"/>
          <p:cNvSpPr/>
          <p:nvPr/>
        </p:nvSpPr>
        <p:spPr>
          <a:xfrm>
            <a:off x="731520" y="566928"/>
            <a:ext cx="7223760" cy="530352"/>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Indigo Claims Intake</a:t>
            </a:r>
            <a:endParaRPr lang="en-US" sz="3100" dirty="0"/>
          </a:p>
        </p:txBody>
      </p:sp>
      <p:sp>
        <p:nvSpPr>
          <p:cNvPr id="4" name="Text 2"/>
          <p:cNvSpPr/>
          <p:nvPr/>
        </p:nvSpPr>
        <p:spPr>
          <a:xfrm>
            <a:off x="749808" y="1143000"/>
            <a:ext cx="7680960" cy="411480"/>
          </a:xfrm>
          <a:prstGeom prst="rect">
            <a:avLst/>
          </a:prstGeom>
          <a:noFill/>
          <a:ln/>
        </p:spPr>
        <p:txBody>
          <a:bodyPr wrap="square" lIns="0" tIns="0" rIns="0" bIns="0" rtlCol="0" anchor="ctr"/>
          <a:lstStyle/>
          <a:p>
            <a:pPr marL="0" indent="0">
              <a:buNone/>
            </a:pPr>
            <a:r>
              <a:rPr lang="en-US" sz="1800" dirty="0">
                <a:solidFill>
                  <a:srgbClr val="DCE8F6"/>
                </a:solidFill>
                <a:latin typeface="Aptos" pitchFamily="34" charset="0"/>
                <a:ea typeface="Aptos" pitchFamily="34" charset="-122"/>
                <a:cs typeface="Aptos" pitchFamily="34" charset="-120"/>
              </a:rPr>
              <a:t>Technical Governance Vetting Assignment</a:t>
            </a:r>
            <a:endParaRPr lang="en-US" sz="1800" dirty="0"/>
          </a:p>
        </p:txBody>
      </p:sp>
      <p:sp>
        <p:nvSpPr>
          <p:cNvPr id="6" name="Shape 4"/>
          <p:cNvSpPr/>
          <p:nvPr/>
        </p:nvSpPr>
        <p:spPr>
          <a:xfrm>
            <a:off x="731520" y="2606040"/>
            <a:ext cx="3429000" cy="2029968"/>
          </a:xfrm>
          <a:prstGeom prst="roundRect">
            <a:avLst>
              <a:gd name="adj" fmla="val 3604"/>
            </a:avLst>
          </a:prstGeom>
          <a:solidFill>
            <a:srgbClr val="FFFFFF"/>
          </a:solidFill>
          <a:ln w="13970">
            <a:solidFill>
              <a:srgbClr val="D7DEE8"/>
            </a:solidFill>
            <a:prstDash val="solid"/>
          </a:ln>
        </p:spPr>
        <p:txBody>
          <a:bodyPr/>
          <a:lstStyle/>
          <a:p>
            <a:endParaRPr lang="en-US"/>
          </a:p>
        </p:txBody>
      </p:sp>
      <p:sp>
        <p:nvSpPr>
          <p:cNvPr id="7" name="Shape 5"/>
          <p:cNvSpPr/>
          <p:nvPr/>
        </p:nvSpPr>
        <p:spPr>
          <a:xfrm>
            <a:off x="731520" y="2606040"/>
            <a:ext cx="73152" cy="2029968"/>
          </a:xfrm>
          <a:prstGeom prst="rect">
            <a:avLst/>
          </a:prstGeom>
          <a:solidFill>
            <a:srgbClr val="1E5AA8"/>
          </a:solidFill>
          <a:ln w="12700">
            <a:solidFill>
              <a:srgbClr val="1E5AA8"/>
            </a:solidFill>
            <a:prstDash val="solid"/>
          </a:ln>
        </p:spPr>
        <p:txBody>
          <a:bodyPr/>
          <a:lstStyle/>
          <a:p>
            <a:endParaRPr lang="en-US"/>
          </a:p>
        </p:txBody>
      </p:sp>
      <p:sp>
        <p:nvSpPr>
          <p:cNvPr id="8" name="Text 6"/>
          <p:cNvSpPr/>
          <p:nvPr/>
        </p:nvSpPr>
        <p:spPr>
          <a:xfrm>
            <a:off x="932688" y="2752344"/>
            <a:ext cx="310896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Azure target shape</a:t>
            </a:r>
            <a:endParaRPr lang="en-US" sz="1500" dirty="0"/>
          </a:p>
        </p:txBody>
      </p:sp>
      <p:sp>
        <p:nvSpPr>
          <p:cNvPr id="9" name="Text 7"/>
          <p:cNvSpPr/>
          <p:nvPr/>
        </p:nvSpPr>
        <p:spPr>
          <a:xfrm>
            <a:off x="932688" y="3136392"/>
            <a:ext cx="3108960" cy="1371600"/>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Secure, production-minded architecture for a future .NET Claims Intake API.</a:t>
            </a:r>
            <a:endParaRPr lang="en-US" sz="1050" dirty="0"/>
          </a:p>
        </p:txBody>
      </p:sp>
      <p:sp>
        <p:nvSpPr>
          <p:cNvPr id="10" name="Shape 8"/>
          <p:cNvSpPr/>
          <p:nvPr/>
        </p:nvSpPr>
        <p:spPr>
          <a:xfrm>
            <a:off x="4389120" y="2606040"/>
            <a:ext cx="3429000" cy="2029968"/>
          </a:xfrm>
          <a:prstGeom prst="roundRect">
            <a:avLst>
              <a:gd name="adj" fmla="val 3604"/>
            </a:avLst>
          </a:prstGeom>
          <a:solidFill>
            <a:srgbClr val="FFFFFF"/>
          </a:solidFill>
          <a:ln w="13970">
            <a:solidFill>
              <a:srgbClr val="D7DEE8"/>
            </a:solidFill>
            <a:prstDash val="solid"/>
          </a:ln>
        </p:spPr>
        <p:txBody>
          <a:bodyPr/>
          <a:lstStyle/>
          <a:p>
            <a:endParaRPr lang="en-US"/>
          </a:p>
        </p:txBody>
      </p:sp>
      <p:sp>
        <p:nvSpPr>
          <p:cNvPr id="11" name="Shape 9"/>
          <p:cNvSpPr/>
          <p:nvPr/>
        </p:nvSpPr>
        <p:spPr>
          <a:xfrm>
            <a:off x="4389120" y="2606040"/>
            <a:ext cx="73152" cy="2029968"/>
          </a:xfrm>
          <a:prstGeom prst="rect">
            <a:avLst/>
          </a:prstGeom>
          <a:solidFill>
            <a:srgbClr val="159A9C"/>
          </a:solidFill>
          <a:ln w="12700">
            <a:solidFill>
              <a:srgbClr val="159A9C"/>
            </a:solidFill>
            <a:prstDash val="solid"/>
          </a:ln>
        </p:spPr>
        <p:txBody>
          <a:bodyPr/>
          <a:lstStyle/>
          <a:p>
            <a:endParaRPr lang="en-US"/>
          </a:p>
        </p:txBody>
      </p:sp>
      <p:sp>
        <p:nvSpPr>
          <p:cNvPr id="12" name="Text 10"/>
          <p:cNvSpPr/>
          <p:nvPr/>
        </p:nvSpPr>
        <p:spPr>
          <a:xfrm>
            <a:off x="4590288" y="2752344"/>
            <a:ext cx="310896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Bicep baseline</a:t>
            </a:r>
            <a:endParaRPr lang="en-US" sz="1500" dirty="0"/>
          </a:p>
        </p:txBody>
      </p:sp>
      <p:sp>
        <p:nvSpPr>
          <p:cNvPr id="13" name="Text 11"/>
          <p:cNvSpPr/>
          <p:nvPr/>
        </p:nvSpPr>
        <p:spPr>
          <a:xfrm>
            <a:off x="4590288" y="3136392"/>
            <a:ext cx="3108960" cy="1371600"/>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Repeatable, reviewable Infrastructure as Code for App Service, SQL, Key Vault and monitoring.</a:t>
            </a:r>
            <a:endParaRPr lang="en-US" sz="1050" dirty="0"/>
          </a:p>
        </p:txBody>
      </p:sp>
      <p:sp>
        <p:nvSpPr>
          <p:cNvPr id="14" name="Shape 12"/>
          <p:cNvSpPr/>
          <p:nvPr/>
        </p:nvSpPr>
        <p:spPr>
          <a:xfrm>
            <a:off x="8046720" y="2606040"/>
            <a:ext cx="3429000" cy="2029968"/>
          </a:xfrm>
          <a:prstGeom prst="roundRect">
            <a:avLst>
              <a:gd name="adj" fmla="val 3604"/>
            </a:avLst>
          </a:prstGeom>
          <a:solidFill>
            <a:srgbClr val="FFFFFF"/>
          </a:solidFill>
          <a:ln w="13970">
            <a:solidFill>
              <a:srgbClr val="D7DEE8"/>
            </a:solidFill>
            <a:prstDash val="solid"/>
          </a:ln>
        </p:spPr>
        <p:txBody>
          <a:bodyPr/>
          <a:lstStyle/>
          <a:p>
            <a:endParaRPr lang="en-US"/>
          </a:p>
        </p:txBody>
      </p:sp>
      <p:sp>
        <p:nvSpPr>
          <p:cNvPr id="15" name="Shape 13"/>
          <p:cNvSpPr/>
          <p:nvPr/>
        </p:nvSpPr>
        <p:spPr>
          <a:xfrm>
            <a:off x="8046720" y="2606040"/>
            <a:ext cx="73152" cy="2029968"/>
          </a:xfrm>
          <a:prstGeom prst="rect">
            <a:avLst/>
          </a:prstGeom>
          <a:solidFill>
            <a:srgbClr val="27835E"/>
          </a:solidFill>
          <a:ln w="12700">
            <a:solidFill>
              <a:srgbClr val="27835E"/>
            </a:solidFill>
            <a:prstDash val="solid"/>
          </a:ln>
        </p:spPr>
        <p:txBody>
          <a:bodyPr/>
          <a:lstStyle/>
          <a:p>
            <a:endParaRPr lang="en-US"/>
          </a:p>
        </p:txBody>
      </p:sp>
      <p:sp>
        <p:nvSpPr>
          <p:cNvPr id="16" name="Text 14"/>
          <p:cNvSpPr/>
          <p:nvPr/>
        </p:nvSpPr>
        <p:spPr>
          <a:xfrm>
            <a:off x="8247888" y="2752344"/>
            <a:ext cx="310896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Controlled promotion</a:t>
            </a:r>
            <a:endParaRPr lang="en-US" sz="1500" dirty="0"/>
          </a:p>
        </p:txBody>
      </p:sp>
      <p:sp>
        <p:nvSpPr>
          <p:cNvPr id="17" name="Text 15"/>
          <p:cNvSpPr/>
          <p:nvPr/>
        </p:nvSpPr>
        <p:spPr>
          <a:xfrm>
            <a:off x="8247888" y="3136392"/>
            <a:ext cx="3108960" cy="1371600"/>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Azure DevOps YAML with DEV deployment and Indigo-controlled Production approval.</a:t>
            </a:r>
            <a:endParaRPr lang="en-US" sz="1050" dirty="0"/>
          </a:p>
        </p:txBody>
      </p:sp>
      <p:sp>
        <p:nvSpPr>
          <p:cNvPr id="18" name="Text 16"/>
          <p:cNvSpPr/>
          <p:nvPr/>
        </p:nvSpPr>
        <p:spPr>
          <a:xfrm>
            <a:off x="749808" y="5074920"/>
            <a:ext cx="2011680" cy="274320"/>
          </a:xfrm>
          <a:prstGeom prst="rect">
            <a:avLst/>
          </a:prstGeom>
          <a:noFill/>
          <a:ln/>
        </p:spPr>
        <p:txBody>
          <a:bodyPr wrap="square" lIns="0" tIns="0" rIns="0" bIns="0" rtlCol="0" anchor="ctr"/>
          <a:lstStyle/>
          <a:p>
            <a:pPr marL="0" indent="0">
              <a:buNone/>
            </a:pPr>
            <a:r>
              <a:rPr lang="en-US" sz="1100" b="1" dirty="0">
                <a:solidFill>
                  <a:srgbClr val="667085"/>
                </a:solidFill>
              </a:rPr>
              <a:t>Guiding principle</a:t>
            </a:r>
            <a:endParaRPr lang="en-US" sz="1100" dirty="0"/>
          </a:p>
        </p:txBody>
      </p:sp>
      <p:sp>
        <p:nvSpPr>
          <p:cNvPr id="19" name="Text 17"/>
          <p:cNvSpPr/>
          <p:nvPr/>
        </p:nvSpPr>
        <p:spPr>
          <a:xfrm>
            <a:off x="749808" y="5394960"/>
            <a:ext cx="10515600" cy="658368"/>
          </a:xfrm>
          <a:prstGeom prst="rect">
            <a:avLst/>
          </a:prstGeom>
          <a:noFill/>
          <a:ln/>
        </p:spPr>
        <p:txBody>
          <a:bodyPr wrap="square" lIns="0" tIns="0" rIns="0" bIns="0" rtlCol="0" anchor="ctr"/>
          <a:lstStyle/>
          <a:p>
            <a:pPr marL="0" indent="0">
              <a:buNone/>
            </a:pPr>
            <a:r>
              <a:rPr lang="en-US" sz="2000" b="1" dirty="0">
                <a:solidFill>
                  <a:srgbClr val="0B1F33"/>
                </a:solidFill>
                <a:latin typeface="Aptos Display" pitchFamily="34" charset="0"/>
                <a:ea typeface="Aptos Display" pitchFamily="34" charset="-122"/>
                <a:cs typeface="Aptos Display" pitchFamily="34" charset="-120"/>
              </a:rPr>
              <a:t>Vendors implement within the baseline; Indigo owns the guardrails and production release authority.</a:t>
            </a:r>
            <a:endParaRPr lang="en-US" sz="2000" dirty="0"/>
          </a:p>
        </p:txBody>
      </p:sp>
      <p:sp>
        <p:nvSpPr>
          <p:cNvPr id="25"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411480"/>
            <a:ext cx="9509760" cy="45720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What the submission proves</a:t>
            </a:r>
            <a:endParaRPr lang="en-US" sz="2500" dirty="0"/>
          </a:p>
        </p:txBody>
      </p:sp>
      <p:sp>
        <p:nvSpPr>
          <p:cNvPr id="3" name="Text 1"/>
          <p:cNvSpPr/>
          <p:nvPr/>
        </p:nvSpPr>
        <p:spPr>
          <a:xfrm>
            <a:off x="676656" y="896112"/>
            <a:ext cx="9784080" cy="329184"/>
          </a:xfrm>
          <a:prstGeom prst="rect">
            <a:avLst/>
          </a:prstGeom>
          <a:noFill/>
          <a:ln/>
        </p:spPr>
        <p:txBody>
          <a:bodyPr wrap="square" lIns="0" tIns="0" rIns="0" bIns="0" rtlCol="0" anchor="ctr"/>
          <a:lstStyle/>
          <a:p>
            <a:pPr marL="0" indent="0">
              <a:buNone/>
            </a:pPr>
            <a:r>
              <a:rPr lang="en-US" sz="1150" dirty="0">
                <a:solidFill>
                  <a:srgbClr val="667085"/>
                </a:solidFill>
                <a:latin typeface="Aptos" pitchFamily="34" charset="0"/>
                <a:ea typeface="Aptos" pitchFamily="34" charset="-122"/>
                <a:cs typeface="Aptos" pitchFamily="34" charset="-120"/>
              </a:rPr>
              <a:t>Keep the video centred on the three must-have skills in the brief.</a:t>
            </a:r>
            <a:endParaRPr lang="en-US" sz="1150" dirty="0"/>
          </a:p>
        </p:txBody>
      </p:sp>
      <p:sp>
        <p:nvSpPr>
          <p:cNvPr id="5" name="Shape 3"/>
          <p:cNvSpPr/>
          <p:nvPr/>
        </p:nvSpPr>
        <p:spPr>
          <a:xfrm>
            <a:off x="685800" y="1417320"/>
            <a:ext cx="3520440" cy="3383280"/>
          </a:xfrm>
          <a:prstGeom prst="roundRect">
            <a:avLst>
              <a:gd name="adj" fmla="val 2162"/>
            </a:avLst>
          </a:prstGeom>
          <a:solidFill>
            <a:srgbClr val="EAF2FB"/>
          </a:solidFill>
          <a:ln w="13970">
            <a:solidFill>
              <a:srgbClr val="D7DEE8"/>
            </a:solidFill>
            <a:prstDash val="solid"/>
          </a:ln>
        </p:spPr>
        <p:txBody>
          <a:bodyPr/>
          <a:lstStyle/>
          <a:p>
            <a:endParaRPr lang="en-US"/>
          </a:p>
        </p:txBody>
      </p:sp>
      <p:sp>
        <p:nvSpPr>
          <p:cNvPr id="6" name="Shape 4"/>
          <p:cNvSpPr/>
          <p:nvPr/>
        </p:nvSpPr>
        <p:spPr>
          <a:xfrm>
            <a:off x="685800" y="1417320"/>
            <a:ext cx="73152" cy="3383280"/>
          </a:xfrm>
          <a:prstGeom prst="rect">
            <a:avLst/>
          </a:prstGeom>
          <a:solidFill>
            <a:srgbClr val="1E5AA8"/>
          </a:solidFill>
          <a:ln w="12700">
            <a:solidFill>
              <a:srgbClr val="1E5AA8"/>
            </a:solidFill>
            <a:prstDash val="solid"/>
          </a:ln>
        </p:spPr>
        <p:txBody>
          <a:bodyPr/>
          <a:lstStyle/>
          <a:p>
            <a:endParaRPr lang="en-US"/>
          </a:p>
        </p:txBody>
      </p:sp>
      <p:sp>
        <p:nvSpPr>
          <p:cNvPr id="7" name="Text 5"/>
          <p:cNvSpPr/>
          <p:nvPr/>
        </p:nvSpPr>
        <p:spPr>
          <a:xfrm>
            <a:off x="886968" y="1563624"/>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1. Azure architecture</a:t>
            </a:r>
            <a:endParaRPr lang="en-US" sz="1500" dirty="0"/>
          </a:p>
        </p:txBody>
      </p:sp>
      <p:sp>
        <p:nvSpPr>
          <p:cNvPr id="8" name="Text 6"/>
          <p:cNvSpPr/>
          <p:nvPr/>
        </p:nvSpPr>
        <p:spPr>
          <a:xfrm>
            <a:off x="886968" y="1947672"/>
            <a:ext cx="3200400" cy="27249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 App Service hosting boundary</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Azure SQL relational store</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Key Vault secret boundary</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Entra ID production identity</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App Insights + Log Analytics</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Security, resilience and ownership decisions</a:t>
            </a:r>
            <a:endParaRPr lang="en-US" sz="1050" dirty="0"/>
          </a:p>
        </p:txBody>
      </p:sp>
      <p:sp>
        <p:nvSpPr>
          <p:cNvPr id="9" name="Shape 7"/>
          <p:cNvSpPr/>
          <p:nvPr/>
        </p:nvSpPr>
        <p:spPr>
          <a:xfrm>
            <a:off x="4343400" y="1417320"/>
            <a:ext cx="3520440" cy="3383280"/>
          </a:xfrm>
          <a:prstGeom prst="roundRect">
            <a:avLst>
              <a:gd name="adj" fmla="val 2162"/>
            </a:avLst>
          </a:prstGeom>
          <a:solidFill>
            <a:srgbClr val="E8F6F5"/>
          </a:solidFill>
          <a:ln w="13970">
            <a:solidFill>
              <a:srgbClr val="D7DEE8"/>
            </a:solidFill>
            <a:prstDash val="solid"/>
          </a:ln>
        </p:spPr>
        <p:txBody>
          <a:bodyPr/>
          <a:lstStyle/>
          <a:p>
            <a:endParaRPr lang="en-US"/>
          </a:p>
        </p:txBody>
      </p:sp>
      <p:sp>
        <p:nvSpPr>
          <p:cNvPr id="10" name="Shape 8"/>
          <p:cNvSpPr/>
          <p:nvPr/>
        </p:nvSpPr>
        <p:spPr>
          <a:xfrm>
            <a:off x="4343400" y="1417320"/>
            <a:ext cx="73152" cy="3383280"/>
          </a:xfrm>
          <a:prstGeom prst="rect">
            <a:avLst/>
          </a:prstGeom>
          <a:solidFill>
            <a:srgbClr val="159A9C"/>
          </a:solidFill>
          <a:ln w="12700">
            <a:solidFill>
              <a:srgbClr val="159A9C"/>
            </a:solidFill>
            <a:prstDash val="solid"/>
          </a:ln>
        </p:spPr>
        <p:txBody>
          <a:bodyPr/>
          <a:lstStyle/>
          <a:p>
            <a:endParaRPr lang="en-US"/>
          </a:p>
        </p:txBody>
      </p:sp>
      <p:sp>
        <p:nvSpPr>
          <p:cNvPr id="11" name="Text 9"/>
          <p:cNvSpPr/>
          <p:nvPr/>
        </p:nvSpPr>
        <p:spPr>
          <a:xfrm>
            <a:off x="4544568" y="1563624"/>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2. Cloud baseline as code</a:t>
            </a:r>
            <a:endParaRPr lang="en-US" sz="1500" dirty="0"/>
          </a:p>
        </p:txBody>
      </p:sp>
      <p:sp>
        <p:nvSpPr>
          <p:cNvPr id="12" name="Text 10"/>
          <p:cNvSpPr/>
          <p:nvPr/>
        </p:nvSpPr>
        <p:spPr>
          <a:xfrm>
            <a:off x="4544568" y="1947672"/>
            <a:ext cx="3200400" cy="27249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 main.bicep orchestration</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Reusable resource modules</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DEV parameter file</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Production parameter example</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Least-privilege Key Vault role</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Bicep lint/build validation</a:t>
            </a:r>
            <a:endParaRPr lang="en-US" sz="1050" dirty="0"/>
          </a:p>
        </p:txBody>
      </p:sp>
      <p:sp>
        <p:nvSpPr>
          <p:cNvPr id="13" name="Shape 11"/>
          <p:cNvSpPr/>
          <p:nvPr/>
        </p:nvSpPr>
        <p:spPr>
          <a:xfrm>
            <a:off x="8001000" y="1417320"/>
            <a:ext cx="3520440" cy="3383280"/>
          </a:xfrm>
          <a:prstGeom prst="roundRect">
            <a:avLst>
              <a:gd name="adj" fmla="val 2162"/>
            </a:avLst>
          </a:prstGeom>
          <a:solidFill>
            <a:srgbClr val="EAF6EF"/>
          </a:solidFill>
          <a:ln w="13970">
            <a:solidFill>
              <a:srgbClr val="D7DEE8"/>
            </a:solidFill>
            <a:prstDash val="solid"/>
          </a:ln>
        </p:spPr>
        <p:txBody>
          <a:bodyPr/>
          <a:lstStyle/>
          <a:p>
            <a:endParaRPr lang="en-US"/>
          </a:p>
        </p:txBody>
      </p:sp>
      <p:sp>
        <p:nvSpPr>
          <p:cNvPr id="14" name="Shape 12"/>
          <p:cNvSpPr/>
          <p:nvPr/>
        </p:nvSpPr>
        <p:spPr>
          <a:xfrm>
            <a:off x="8001000" y="1417320"/>
            <a:ext cx="73152" cy="3383280"/>
          </a:xfrm>
          <a:prstGeom prst="rect">
            <a:avLst/>
          </a:prstGeom>
          <a:solidFill>
            <a:srgbClr val="27835E"/>
          </a:solidFill>
          <a:ln w="12700">
            <a:solidFill>
              <a:srgbClr val="27835E"/>
            </a:solidFill>
            <a:prstDash val="solid"/>
          </a:ln>
        </p:spPr>
        <p:txBody>
          <a:bodyPr/>
          <a:lstStyle/>
          <a:p>
            <a:endParaRPr lang="en-US"/>
          </a:p>
        </p:txBody>
      </p:sp>
      <p:sp>
        <p:nvSpPr>
          <p:cNvPr id="15" name="Text 13"/>
          <p:cNvSpPr/>
          <p:nvPr/>
        </p:nvSpPr>
        <p:spPr>
          <a:xfrm>
            <a:off x="8202168" y="1563624"/>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3. Release governance</a:t>
            </a:r>
            <a:endParaRPr lang="en-US" sz="1500" dirty="0"/>
          </a:p>
        </p:txBody>
      </p:sp>
      <p:sp>
        <p:nvSpPr>
          <p:cNvPr id="16" name="Text 14"/>
          <p:cNvSpPr/>
          <p:nvPr/>
        </p:nvSpPr>
        <p:spPr>
          <a:xfrm>
            <a:off x="8202168" y="1947672"/>
            <a:ext cx="3200400" cy="27249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 Pull-request validation</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Build and IaC quality gates</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Immutable IaC artifact</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DEV deployment</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claims-prod Environment approval</a:t>
            </a:r>
            <a:endParaRPr lang="en-US" sz="1050" dirty="0"/>
          </a:p>
          <a:p>
            <a:pPr marL="0" indent="0">
              <a:buNone/>
            </a:pPr>
            <a:r>
              <a:rPr lang="en-US" sz="1050" dirty="0">
                <a:solidFill>
                  <a:srgbClr val="1F2937"/>
                </a:solidFill>
                <a:latin typeface="Aptos" pitchFamily="34" charset="0"/>
                <a:ea typeface="Aptos" pitchFamily="34" charset="-122"/>
                <a:cs typeface="Aptos" pitchFamily="34" charset="-120"/>
              </a:rPr>
              <a:t>• Production from the same artifact</a:t>
            </a:r>
            <a:endParaRPr lang="en-US" sz="1050" dirty="0"/>
          </a:p>
        </p:txBody>
      </p:sp>
      <p:sp>
        <p:nvSpPr>
          <p:cNvPr id="17" name="Shape 15"/>
          <p:cNvSpPr/>
          <p:nvPr/>
        </p:nvSpPr>
        <p:spPr>
          <a:xfrm>
            <a:off x="2194560" y="5166360"/>
            <a:ext cx="7772400" cy="685800"/>
          </a:xfrm>
          <a:prstGeom prst="roundRect">
            <a:avLst/>
          </a:prstGeom>
          <a:solidFill>
            <a:srgbClr val="FFFFFF"/>
          </a:solidFill>
          <a:ln w="15240">
            <a:solidFill>
              <a:srgbClr val="BFD5EE"/>
            </a:solidFill>
            <a:prstDash val="solid"/>
          </a:ln>
        </p:spPr>
        <p:txBody>
          <a:bodyPr/>
          <a:lstStyle/>
          <a:p>
            <a:endParaRPr lang="en-US"/>
          </a:p>
        </p:txBody>
      </p:sp>
      <p:sp>
        <p:nvSpPr>
          <p:cNvPr id="18" name="Text 16"/>
          <p:cNvSpPr/>
          <p:nvPr/>
        </p:nvSpPr>
        <p:spPr>
          <a:xfrm>
            <a:off x="2423160" y="5367528"/>
            <a:ext cx="7315200" cy="292608"/>
          </a:xfrm>
          <a:prstGeom prst="rect">
            <a:avLst/>
          </a:prstGeom>
          <a:noFill/>
          <a:ln/>
        </p:spPr>
        <p:txBody>
          <a:bodyPr wrap="square" lIns="0" tIns="0" rIns="0" bIns="0" rtlCol="0" anchor="ctr"/>
          <a:lstStyle/>
          <a:p>
            <a:pPr marL="0" indent="0" algn="ctr">
              <a:buNone/>
            </a:pPr>
            <a:r>
              <a:rPr lang="en-US" sz="1150" b="1" dirty="0">
                <a:solidFill>
                  <a:srgbClr val="1E5AA8"/>
                </a:solidFill>
                <a:latin typeface="Consolas" pitchFamily="34" charset="0"/>
                <a:ea typeface="Consolas" pitchFamily="34" charset="-122"/>
                <a:cs typeface="Consolas" pitchFamily="34" charset="-120"/>
              </a:rPr>
              <a:t>Validated locally:  az bicep lint  +  az bicep build  →  infra/main.json created successfully</a:t>
            </a:r>
            <a:endParaRPr lang="en-US" sz="1150" dirty="0"/>
          </a:p>
        </p:txBody>
      </p:sp>
      <p:sp>
        <p:nvSpPr>
          <p:cNvPr id="25"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411480"/>
            <a:ext cx="9509760" cy="45720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Target Azure architecture</a:t>
            </a:r>
            <a:endParaRPr lang="en-US" sz="2500" dirty="0"/>
          </a:p>
        </p:txBody>
      </p:sp>
      <p:sp>
        <p:nvSpPr>
          <p:cNvPr id="3" name="Text 1"/>
          <p:cNvSpPr/>
          <p:nvPr/>
        </p:nvSpPr>
        <p:spPr>
          <a:xfrm>
            <a:off x="676656" y="896112"/>
            <a:ext cx="9784080" cy="329184"/>
          </a:xfrm>
          <a:prstGeom prst="rect">
            <a:avLst/>
          </a:prstGeom>
          <a:noFill/>
          <a:ln/>
        </p:spPr>
        <p:txBody>
          <a:bodyPr wrap="square" lIns="0" tIns="0" rIns="0" bIns="0" rtlCol="0" anchor="ctr"/>
          <a:lstStyle/>
          <a:p>
            <a:pPr marL="0" indent="0">
              <a:buNone/>
            </a:pPr>
            <a:r>
              <a:rPr lang="en-US" sz="1150" dirty="0">
                <a:solidFill>
                  <a:srgbClr val="667085"/>
                </a:solidFill>
                <a:latin typeface="Aptos" pitchFamily="34" charset="0"/>
                <a:ea typeface="Aptos" pitchFamily="34" charset="-122"/>
                <a:cs typeface="Aptos" pitchFamily="34" charset="-120"/>
              </a:rPr>
              <a:t>Small, production-minded and deliberately proportional to the brief.</a:t>
            </a:r>
            <a:endParaRPr lang="en-US" sz="1150" dirty="0"/>
          </a:p>
        </p:txBody>
      </p:sp>
      <p:sp>
        <p:nvSpPr>
          <p:cNvPr id="5" name="Shape 3"/>
          <p:cNvSpPr/>
          <p:nvPr/>
        </p:nvSpPr>
        <p:spPr>
          <a:xfrm>
            <a:off x="4663440" y="1353312"/>
            <a:ext cx="2834640" cy="749808"/>
          </a:xfrm>
          <a:prstGeom prst="roundRect">
            <a:avLst/>
          </a:prstGeom>
          <a:solidFill>
            <a:srgbClr val="FFFFFF"/>
          </a:solidFill>
          <a:ln w="15240">
            <a:solidFill>
              <a:srgbClr val="D7DEE8"/>
            </a:solidFill>
            <a:prstDash val="solid"/>
          </a:ln>
        </p:spPr>
        <p:txBody>
          <a:bodyPr/>
          <a:lstStyle/>
          <a:p>
            <a:endParaRPr lang="en-US"/>
          </a:p>
        </p:txBody>
      </p:sp>
      <p:sp>
        <p:nvSpPr>
          <p:cNvPr id="6" name="Text 4"/>
          <p:cNvSpPr/>
          <p:nvPr/>
        </p:nvSpPr>
        <p:spPr>
          <a:xfrm>
            <a:off x="4736592" y="1499616"/>
            <a:ext cx="268833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Customer / Agent</a:t>
            </a:r>
            <a:endParaRPr lang="en-US" sz="1300" dirty="0"/>
          </a:p>
        </p:txBody>
      </p:sp>
      <p:sp>
        <p:nvSpPr>
          <p:cNvPr id="7" name="Text 5"/>
          <p:cNvSpPr/>
          <p:nvPr/>
        </p:nvSpPr>
        <p:spPr>
          <a:xfrm>
            <a:off x="4736592" y="1792224"/>
            <a:ext cx="2688336" cy="237744"/>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HTTPS request</a:t>
            </a:r>
            <a:endParaRPr lang="en-US" sz="950" dirty="0"/>
          </a:p>
        </p:txBody>
      </p:sp>
      <p:sp>
        <p:nvSpPr>
          <p:cNvPr id="8" name="Shape 6"/>
          <p:cNvSpPr/>
          <p:nvPr/>
        </p:nvSpPr>
        <p:spPr>
          <a:xfrm rot="5400000">
            <a:off x="5916168" y="2098548"/>
            <a:ext cx="320040" cy="329184"/>
          </a:xfrm>
          <a:prstGeom prst="chevron">
            <a:avLst/>
          </a:prstGeom>
          <a:solidFill>
            <a:srgbClr val="B8C9DC"/>
          </a:solidFill>
          <a:ln w="12700">
            <a:solidFill>
              <a:srgbClr val="B8C9DC"/>
            </a:solidFill>
            <a:prstDash val="solid"/>
          </a:ln>
        </p:spPr>
        <p:txBody>
          <a:bodyPr/>
          <a:lstStyle/>
          <a:p>
            <a:endParaRPr lang="en-US"/>
          </a:p>
        </p:txBody>
      </p:sp>
      <p:sp>
        <p:nvSpPr>
          <p:cNvPr id="9" name="Shape 7"/>
          <p:cNvSpPr/>
          <p:nvPr/>
        </p:nvSpPr>
        <p:spPr>
          <a:xfrm>
            <a:off x="4636008" y="2450592"/>
            <a:ext cx="2834640" cy="822960"/>
          </a:xfrm>
          <a:prstGeom prst="roundRect">
            <a:avLst/>
          </a:prstGeom>
          <a:solidFill>
            <a:srgbClr val="EAF2FB"/>
          </a:solidFill>
          <a:ln w="15240">
            <a:solidFill>
              <a:srgbClr val="BFD5EE"/>
            </a:solidFill>
            <a:prstDash val="solid"/>
          </a:ln>
        </p:spPr>
        <p:txBody>
          <a:bodyPr/>
          <a:lstStyle/>
          <a:p>
            <a:endParaRPr lang="en-US"/>
          </a:p>
        </p:txBody>
      </p:sp>
      <p:sp>
        <p:nvSpPr>
          <p:cNvPr id="10" name="Text 8"/>
          <p:cNvSpPr/>
          <p:nvPr/>
        </p:nvSpPr>
        <p:spPr>
          <a:xfrm>
            <a:off x="4736592" y="2569464"/>
            <a:ext cx="268833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Microsoft Entra ID</a:t>
            </a:r>
            <a:endParaRPr lang="en-US" sz="1300" dirty="0"/>
          </a:p>
        </p:txBody>
      </p:sp>
      <p:sp>
        <p:nvSpPr>
          <p:cNvPr id="11" name="Text 9"/>
          <p:cNvSpPr/>
          <p:nvPr/>
        </p:nvSpPr>
        <p:spPr>
          <a:xfrm>
            <a:off x="4736592" y="2862072"/>
            <a:ext cx="2688336" cy="3108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OAuth2 / OIDC identity boundary</a:t>
            </a:r>
            <a:endParaRPr lang="en-US" sz="950" dirty="0"/>
          </a:p>
        </p:txBody>
      </p:sp>
      <p:sp>
        <p:nvSpPr>
          <p:cNvPr id="12" name="Shape 10"/>
          <p:cNvSpPr/>
          <p:nvPr/>
        </p:nvSpPr>
        <p:spPr>
          <a:xfrm rot="5400000">
            <a:off x="5907024" y="3278124"/>
            <a:ext cx="338328" cy="329184"/>
          </a:xfrm>
          <a:prstGeom prst="chevron">
            <a:avLst/>
          </a:prstGeom>
          <a:solidFill>
            <a:srgbClr val="B8C9DC"/>
          </a:solidFill>
          <a:ln w="12700">
            <a:solidFill>
              <a:srgbClr val="B8C9DC"/>
            </a:solidFill>
            <a:prstDash val="solid"/>
          </a:ln>
        </p:spPr>
        <p:txBody>
          <a:bodyPr/>
          <a:lstStyle/>
          <a:p>
            <a:endParaRPr lang="en-US"/>
          </a:p>
        </p:txBody>
      </p:sp>
      <p:sp>
        <p:nvSpPr>
          <p:cNvPr id="13" name="Shape 11"/>
          <p:cNvSpPr/>
          <p:nvPr/>
        </p:nvSpPr>
        <p:spPr>
          <a:xfrm>
            <a:off x="3977640" y="3611880"/>
            <a:ext cx="4206240" cy="960120"/>
          </a:xfrm>
          <a:prstGeom prst="roundRect">
            <a:avLst/>
          </a:prstGeom>
          <a:solidFill>
            <a:srgbClr val="E8F6F5"/>
          </a:solidFill>
          <a:ln w="15240">
            <a:solidFill>
              <a:srgbClr val="B7DEDC"/>
            </a:solidFill>
            <a:prstDash val="solid"/>
          </a:ln>
        </p:spPr>
        <p:txBody>
          <a:bodyPr/>
          <a:lstStyle/>
          <a:p>
            <a:endParaRPr lang="en-US"/>
          </a:p>
        </p:txBody>
      </p:sp>
      <p:sp>
        <p:nvSpPr>
          <p:cNvPr id="14" name="Text 12"/>
          <p:cNvSpPr/>
          <p:nvPr/>
        </p:nvSpPr>
        <p:spPr>
          <a:xfrm>
            <a:off x="4050792" y="3758184"/>
            <a:ext cx="405993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Azure App Service</a:t>
            </a:r>
            <a:endParaRPr lang="en-US" sz="1300" dirty="0"/>
          </a:p>
        </p:txBody>
      </p:sp>
      <p:sp>
        <p:nvSpPr>
          <p:cNvPr id="15" name="Text 13"/>
          <p:cNvSpPr/>
          <p:nvPr/>
        </p:nvSpPr>
        <p:spPr>
          <a:xfrm>
            <a:off x="4050792" y="4050792"/>
            <a:ext cx="4059936" cy="44805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Future .NET Claims Intake API • HTTPS • Managed Identity • scale-out</a:t>
            </a:r>
            <a:endParaRPr lang="en-US" sz="950" dirty="0"/>
          </a:p>
        </p:txBody>
      </p:sp>
      <p:sp>
        <p:nvSpPr>
          <p:cNvPr id="16" name="Shape 14"/>
          <p:cNvSpPr/>
          <p:nvPr/>
        </p:nvSpPr>
        <p:spPr>
          <a:xfrm>
            <a:off x="731520" y="5074920"/>
            <a:ext cx="2926080" cy="914400"/>
          </a:xfrm>
          <a:prstGeom prst="roundRect">
            <a:avLst/>
          </a:prstGeom>
          <a:solidFill>
            <a:srgbClr val="FFFFFF"/>
          </a:solidFill>
          <a:ln w="15240">
            <a:solidFill>
              <a:srgbClr val="D7DEE8"/>
            </a:solidFill>
            <a:prstDash val="solid"/>
          </a:ln>
        </p:spPr>
        <p:txBody>
          <a:bodyPr/>
          <a:lstStyle/>
          <a:p>
            <a:endParaRPr lang="en-US"/>
          </a:p>
        </p:txBody>
      </p:sp>
      <p:sp>
        <p:nvSpPr>
          <p:cNvPr id="17" name="Text 15"/>
          <p:cNvSpPr/>
          <p:nvPr/>
        </p:nvSpPr>
        <p:spPr>
          <a:xfrm>
            <a:off x="804672" y="5221224"/>
            <a:ext cx="277977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Azure SQL Database</a:t>
            </a:r>
            <a:endParaRPr lang="en-US" sz="1300" dirty="0"/>
          </a:p>
        </p:txBody>
      </p:sp>
      <p:sp>
        <p:nvSpPr>
          <p:cNvPr id="18" name="Text 16"/>
          <p:cNvSpPr/>
          <p:nvPr/>
        </p:nvSpPr>
        <p:spPr>
          <a:xfrm>
            <a:off x="804672" y="5513832"/>
            <a:ext cx="2779776" cy="40233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Relational system of record • unique externalReference</a:t>
            </a:r>
            <a:endParaRPr lang="en-US" sz="950" dirty="0"/>
          </a:p>
        </p:txBody>
      </p:sp>
      <p:sp>
        <p:nvSpPr>
          <p:cNvPr id="19" name="Shape 17"/>
          <p:cNvSpPr/>
          <p:nvPr/>
        </p:nvSpPr>
        <p:spPr>
          <a:xfrm>
            <a:off x="4617720" y="5074920"/>
            <a:ext cx="2926080" cy="914400"/>
          </a:xfrm>
          <a:prstGeom prst="roundRect">
            <a:avLst/>
          </a:prstGeom>
          <a:solidFill>
            <a:srgbClr val="FFFFFF"/>
          </a:solidFill>
          <a:ln w="15240">
            <a:solidFill>
              <a:srgbClr val="D7DEE8"/>
            </a:solidFill>
            <a:prstDash val="solid"/>
          </a:ln>
        </p:spPr>
        <p:txBody>
          <a:bodyPr/>
          <a:lstStyle/>
          <a:p>
            <a:endParaRPr lang="en-US"/>
          </a:p>
        </p:txBody>
      </p:sp>
      <p:sp>
        <p:nvSpPr>
          <p:cNvPr id="20" name="Text 18"/>
          <p:cNvSpPr/>
          <p:nvPr/>
        </p:nvSpPr>
        <p:spPr>
          <a:xfrm>
            <a:off x="4690872" y="5221224"/>
            <a:ext cx="277977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Azure Key Vault</a:t>
            </a:r>
            <a:endParaRPr lang="en-US" sz="1300" dirty="0"/>
          </a:p>
        </p:txBody>
      </p:sp>
      <p:sp>
        <p:nvSpPr>
          <p:cNvPr id="21" name="Text 19"/>
          <p:cNvSpPr/>
          <p:nvPr/>
        </p:nvSpPr>
        <p:spPr>
          <a:xfrm>
            <a:off x="4690872" y="5513832"/>
            <a:ext cx="2779776" cy="40233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Secrets/configuration • RBAC • Managed Identity</a:t>
            </a:r>
            <a:endParaRPr lang="en-US" sz="950" dirty="0"/>
          </a:p>
        </p:txBody>
      </p:sp>
      <p:sp>
        <p:nvSpPr>
          <p:cNvPr id="22" name="Shape 20"/>
          <p:cNvSpPr/>
          <p:nvPr/>
        </p:nvSpPr>
        <p:spPr>
          <a:xfrm>
            <a:off x="8503920" y="5074920"/>
            <a:ext cx="2926080" cy="914400"/>
          </a:xfrm>
          <a:prstGeom prst="roundRect">
            <a:avLst/>
          </a:prstGeom>
          <a:solidFill>
            <a:srgbClr val="FFFFFF"/>
          </a:solidFill>
          <a:ln w="15240">
            <a:solidFill>
              <a:srgbClr val="D7DEE8"/>
            </a:solidFill>
            <a:prstDash val="solid"/>
          </a:ln>
        </p:spPr>
        <p:txBody>
          <a:bodyPr/>
          <a:lstStyle/>
          <a:p>
            <a:endParaRPr lang="en-US"/>
          </a:p>
        </p:txBody>
      </p:sp>
      <p:sp>
        <p:nvSpPr>
          <p:cNvPr id="23" name="Text 21"/>
          <p:cNvSpPr/>
          <p:nvPr/>
        </p:nvSpPr>
        <p:spPr>
          <a:xfrm>
            <a:off x="8577072" y="5221224"/>
            <a:ext cx="277977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App Insights + Log Analytics</a:t>
            </a:r>
            <a:endParaRPr lang="en-US" sz="1300" dirty="0"/>
          </a:p>
        </p:txBody>
      </p:sp>
      <p:sp>
        <p:nvSpPr>
          <p:cNvPr id="24" name="Text 22"/>
          <p:cNvSpPr/>
          <p:nvPr/>
        </p:nvSpPr>
        <p:spPr>
          <a:xfrm>
            <a:off x="8577072" y="5513832"/>
            <a:ext cx="2779776" cy="40233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Logs • metrics • traces • diagnostics</a:t>
            </a:r>
            <a:endParaRPr lang="en-US" sz="950" dirty="0"/>
          </a:p>
        </p:txBody>
      </p:sp>
      <p:sp>
        <p:nvSpPr>
          <p:cNvPr id="25" name="Shape 23"/>
          <p:cNvSpPr/>
          <p:nvPr/>
        </p:nvSpPr>
        <p:spPr>
          <a:xfrm>
            <a:off x="6080760" y="4572000"/>
            <a:ext cx="0" cy="502920"/>
          </a:xfrm>
          <a:prstGeom prst="line">
            <a:avLst/>
          </a:prstGeom>
          <a:noFill/>
          <a:ln w="19050">
            <a:solidFill>
              <a:srgbClr val="92A7BE"/>
            </a:solidFill>
            <a:prstDash val="solid"/>
            <a:headEnd type="none"/>
            <a:tailEnd type="triangle"/>
          </a:ln>
        </p:spPr>
        <p:txBody>
          <a:bodyPr/>
          <a:lstStyle/>
          <a:p>
            <a:endParaRPr lang="en-US"/>
          </a:p>
        </p:txBody>
      </p:sp>
      <p:sp>
        <p:nvSpPr>
          <p:cNvPr id="26" name="Shape 24"/>
          <p:cNvSpPr/>
          <p:nvPr/>
        </p:nvSpPr>
        <p:spPr>
          <a:xfrm>
            <a:off x="6080760" y="4572000"/>
            <a:ext cx="0" cy="502920"/>
          </a:xfrm>
          <a:prstGeom prst="line">
            <a:avLst/>
          </a:prstGeom>
          <a:noFill/>
          <a:ln w="19050">
            <a:solidFill>
              <a:srgbClr val="92A7BE"/>
            </a:solidFill>
            <a:prstDash val="solid"/>
            <a:headEnd type="none"/>
            <a:tailEnd type="triangle"/>
          </a:ln>
        </p:spPr>
        <p:txBody>
          <a:bodyPr/>
          <a:lstStyle/>
          <a:p>
            <a:endParaRPr lang="en-US"/>
          </a:p>
        </p:txBody>
      </p:sp>
      <p:sp>
        <p:nvSpPr>
          <p:cNvPr id="27" name="Shape 25"/>
          <p:cNvSpPr/>
          <p:nvPr/>
        </p:nvSpPr>
        <p:spPr>
          <a:xfrm>
            <a:off x="6080760" y="4572000"/>
            <a:ext cx="3886200" cy="502920"/>
          </a:xfrm>
          <a:prstGeom prst="line">
            <a:avLst/>
          </a:prstGeom>
          <a:noFill/>
          <a:ln w="19050">
            <a:solidFill>
              <a:srgbClr val="92A7BE"/>
            </a:solidFill>
            <a:prstDash val="solid"/>
            <a:headEnd type="none"/>
            <a:tailEnd type="triangle"/>
          </a:ln>
        </p:spPr>
        <p:txBody>
          <a:bodyPr/>
          <a:lstStyle/>
          <a:p>
            <a:endParaRPr lang="en-US"/>
          </a:p>
        </p:txBody>
      </p:sp>
      <p:sp>
        <p:nvSpPr>
          <p:cNvPr id="28" name="Shape 26"/>
          <p:cNvSpPr/>
          <p:nvPr/>
        </p:nvSpPr>
        <p:spPr>
          <a:xfrm>
            <a:off x="8503920" y="1417320"/>
            <a:ext cx="2788920" cy="1444752"/>
          </a:xfrm>
          <a:prstGeom prst="roundRect">
            <a:avLst/>
          </a:prstGeom>
          <a:solidFill>
            <a:srgbClr val="FFF5E3"/>
          </a:solidFill>
          <a:ln w="12700">
            <a:solidFill>
              <a:srgbClr val="F0D29A"/>
            </a:solidFill>
            <a:prstDash val="solid"/>
          </a:ln>
        </p:spPr>
        <p:txBody>
          <a:bodyPr/>
          <a:lstStyle/>
          <a:p>
            <a:endParaRPr lang="en-US"/>
          </a:p>
        </p:txBody>
      </p:sp>
      <p:sp>
        <p:nvSpPr>
          <p:cNvPr id="29" name="Text 27"/>
          <p:cNvSpPr/>
          <p:nvPr/>
        </p:nvSpPr>
        <p:spPr>
          <a:xfrm>
            <a:off x="8732520" y="1627632"/>
            <a:ext cx="2331720" cy="256032"/>
          </a:xfrm>
          <a:prstGeom prst="rect">
            <a:avLst/>
          </a:prstGeom>
          <a:noFill/>
          <a:ln/>
        </p:spPr>
        <p:txBody>
          <a:bodyPr wrap="square" lIns="0" tIns="0" rIns="0" bIns="0" rtlCol="0" anchor="ctr"/>
          <a:lstStyle/>
          <a:p>
            <a:pPr marL="0" indent="0">
              <a:buNone/>
            </a:pPr>
            <a:r>
              <a:rPr lang="en-US" sz="1250" b="1" dirty="0">
                <a:solidFill>
                  <a:srgbClr val="0B1F33"/>
                </a:solidFill>
              </a:rPr>
              <a:t>Load balancing decision</a:t>
            </a:r>
            <a:endParaRPr lang="en-US" sz="1250" dirty="0"/>
          </a:p>
        </p:txBody>
      </p:sp>
      <p:sp>
        <p:nvSpPr>
          <p:cNvPr id="30" name="Text 28"/>
          <p:cNvSpPr/>
          <p:nvPr/>
        </p:nvSpPr>
        <p:spPr>
          <a:xfrm>
            <a:off x="8732520" y="1938528"/>
            <a:ext cx="2331720" cy="713232"/>
          </a:xfrm>
          <a:prstGeom prst="rect">
            <a:avLst/>
          </a:prstGeom>
          <a:noFill/>
          <a:ln/>
        </p:spPr>
        <p:txBody>
          <a:bodyPr wrap="square" lIns="0" tIns="0" rIns="0" bIns="0" rtlCol="0" anchor="ctr"/>
          <a:lstStyle/>
          <a:p>
            <a:pPr marL="0" indent="0">
              <a:buNone/>
            </a:pPr>
            <a:r>
              <a:rPr lang="en-US" sz="970" dirty="0">
                <a:solidFill>
                  <a:srgbClr val="1F2937"/>
                </a:solidFill>
              </a:rPr>
              <a:t>No separate Azure Load Balancer for this single-region App Service baseline. Add Front Door / global routing only when a real requirement justifies it.</a:t>
            </a:r>
            <a:endParaRPr lang="en-US" sz="970" dirty="0"/>
          </a:p>
        </p:txBody>
      </p:sp>
      <p:sp>
        <p:nvSpPr>
          <p:cNvPr id="31"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411480"/>
            <a:ext cx="9509760" cy="45720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Bicep: the Azure cloud baseline</a:t>
            </a:r>
            <a:endParaRPr lang="en-US" sz="2500" dirty="0"/>
          </a:p>
        </p:txBody>
      </p:sp>
      <p:sp>
        <p:nvSpPr>
          <p:cNvPr id="3" name="Text 1"/>
          <p:cNvSpPr/>
          <p:nvPr/>
        </p:nvSpPr>
        <p:spPr>
          <a:xfrm>
            <a:off x="676656" y="896112"/>
            <a:ext cx="9784080" cy="329184"/>
          </a:xfrm>
          <a:prstGeom prst="rect">
            <a:avLst/>
          </a:prstGeom>
          <a:noFill/>
          <a:ln/>
        </p:spPr>
        <p:txBody>
          <a:bodyPr wrap="square" lIns="0" tIns="0" rIns="0" bIns="0" rtlCol="0" anchor="ctr"/>
          <a:lstStyle/>
          <a:p>
            <a:pPr marL="0" indent="0">
              <a:buNone/>
            </a:pPr>
            <a:r>
              <a:rPr lang="en-US" sz="1150" dirty="0">
                <a:solidFill>
                  <a:srgbClr val="667085"/>
                </a:solidFill>
                <a:latin typeface="Aptos" pitchFamily="34" charset="0"/>
                <a:ea typeface="Aptos" pitchFamily="34" charset="-122"/>
                <a:cs typeface="Aptos" pitchFamily="34" charset="-120"/>
              </a:rPr>
              <a:t>Infrastructure is declared in code, not recreated manually in the Azure Portal.</a:t>
            </a:r>
            <a:endParaRPr lang="en-US" sz="1150" dirty="0"/>
          </a:p>
        </p:txBody>
      </p:sp>
      <p:sp>
        <p:nvSpPr>
          <p:cNvPr id="5" name="Shape 3"/>
          <p:cNvSpPr/>
          <p:nvPr/>
        </p:nvSpPr>
        <p:spPr>
          <a:xfrm>
            <a:off x="713232" y="1325880"/>
            <a:ext cx="3840480" cy="4480560"/>
          </a:xfrm>
          <a:prstGeom prst="roundRect">
            <a:avLst/>
          </a:prstGeom>
          <a:solidFill>
            <a:srgbClr val="0E2238"/>
          </a:solidFill>
          <a:ln w="12700">
            <a:solidFill>
              <a:srgbClr val="0E2238"/>
            </a:solidFill>
            <a:prstDash val="solid"/>
          </a:ln>
        </p:spPr>
        <p:txBody>
          <a:bodyPr/>
          <a:lstStyle/>
          <a:p>
            <a:endParaRPr lang="en-US"/>
          </a:p>
        </p:txBody>
      </p:sp>
      <p:sp>
        <p:nvSpPr>
          <p:cNvPr id="6" name="Text 4"/>
          <p:cNvSpPr/>
          <p:nvPr/>
        </p:nvSpPr>
        <p:spPr>
          <a:xfrm>
            <a:off x="960120" y="1600200"/>
            <a:ext cx="3383280" cy="3794760"/>
          </a:xfrm>
          <a:prstGeom prst="rect">
            <a:avLst/>
          </a:prstGeom>
          <a:noFill/>
          <a:ln/>
        </p:spPr>
        <p:txBody>
          <a:bodyPr wrap="square" lIns="0" tIns="0" rIns="0" bIns="0" rtlCol="0" anchor="ctr"/>
          <a:lstStyle/>
          <a:p>
            <a:pPr marL="0" indent="0">
              <a:buNone/>
            </a:pPr>
            <a:r>
              <a:rPr lang="en-US" sz="1220" dirty="0">
                <a:solidFill>
                  <a:srgbClr val="E6EEF7"/>
                </a:solidFill>
                <a:latin typeface="Consolas" pitchFamily="34" charset="0"/>
                <a:ea typeface="Consolas" pitchFamily="34" charset="-122"/>
                <a:cs typeface="Consolas" pitchFamily="34" charset="-120"/>
              </a:rPr>
              <a:t>infra/</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main.bicep</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modules/</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appservice.bicep</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database.bicep</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keyvault.bicep</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keyvault-role.bicep</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monitoring.bicep</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parameters/</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dev.bicepparam</a:t>
            </a:r>
            <a:endParaRPr lang="en-US" sz="1220" dirty="0"/>
          </a:p>
          <a:p>
            <a:pPr marL="0" indent="0">
              <a:buNone/>
            </a:pPr>
            <a:r>
              <a:rPr lang="en-US" sz="1220" dirty="0">
                <a:solidFill>
                  <a:srgbClr val="E6EEF7"/>
                </a:solidFill>
                <a:latin typeface="Consolas" pitchFamily="34" charset="0"/>
                <a:ea typeface="Consolas" pitchFamily="34" charset="-122"/>
                <a:cs typeface="Consolas" pitchFamily="34" charset="-120"/>
              </a:rPr>
              <a:t>    └── prod.bicepparam.example</a:t>
            </a:r>
            <a:endParaRPr lang="en-US" sz="1220" dirty="0"/>
          </a:p>
        </p:txBody>
      </p:sp>
      <p:sp>
        <p:nvSpPr>
          <p:cNvPr id="7" name="Shape 5"/>
          <p:cNvSpPr/>
          <p:nvPr/>
        </p:nvSpPr>
        <p:spPr>
          <a:xfrm>
            <a:off x="4892040" y="1371600"/>
            <a:ext cx="2880360" cy="1325880"/>
          </a:xfrm>
          <a:prstGeom prst="roundRect">
            <a:avLst>
              <a:gd name="adj" fmla="val 5517"/>
            </a:avLst>
          </a:prstGeom>
          <a:solidFill>
            <a:srgbClr val="FFFFFF"/>
          </a:solidFill>
          <a:ln w="13970">
            <a:solidFill>
              <a:srgbClr val="D7DEE8"/>
            </a:solidFill>
            <a:prstDash val="solid"/>
          </a:ln>
        </p:spPr>
        <p:txBody>
          <a:bodyPr/>
          <a:lstStyle/>
          <a:p>
            <a:endParaRPr lang="en-US"/>
          </a:p>
        </p:txBody>
      </p:sp>
      <p:sp>
        <p:nvSpPr>
          <p:cNvPr id="8" name="Shape 6"/>
          <p:cNvSpPr/>
          <p:nvPr/>
        </p:nvSpPr>
        <p:spPr>
          <a:xfrm>
            <a:off x="4892040" y="1371600"/>
            <a:ext cx="73152" cy="1325880"/>
          </a:xfrm>
          <a:prstGeom prst="rect">
            <a:avLst/>
          </a:prstGeom>
          <a:solidFill>
            <a:srgbClr val="1E5AA8"/>
          </a:solidFill>
          <a:ln w="12700">
            <a:solidFill>
              <a:srgbClr val="1E5AA8"/>
            </a:solidFill>
            <a:prstDash val="solid"/>
          </a:ln>
        </p:spPr>
        <p:txBody>
          <a:bodyPr/>
          <a:lstStyle/>
          <a:p>
            <a:endParaRPr lang="en-US"/>
          </a:p>
        </p:txBody>
      </p:sp>
      <p:sp>
        <p:nvSpPr>
          <p:cNvPr id="9" name="Text 7"/>
          <p:cNvSpPr/>
          <p:nvPr/>
        </p:nvSpPr>
        <p:spPr>
          <a:xfrm>
            <a:off x="5093208" y="1517904"/>
            <a:ext cx="256032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main.bicep</a:t>
            </a:r>
            <a:endParaRPr lang="en-US" sz="1500" dirty="0"/>
          </a:p>
        </p:txBody>
      </p:sp>
      <p:sp>
        <p:nvSpPr>
          <p:cNvPr id="10" name="Text 8"/>
          <p:cNvSpPr/>
          <p:nvPr/>
        </p:nvSpPr>
        <p:spPr>
          <a:xfrm>
            <a:off x="5093208" y="1901952"/>
            <a:ext cx="2560320" cy="6675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Orchestration entry point. Composes the Azure resource modules.</a:t>
            </a:r>
            <a:endParaRPr lang="en-US" sz="1050" dirty="0"/>
          </a:p>
        </p:txBody>
      </p:sp>
      <p:sp>
        <p:nvSpPr>
          <p:cNvPr id="11" name="Shape 9"/>
          <p:cNvSpPr/>
          <p:nvPr/>
        </p:nvSpPr>
        <p:spPr>
          <a:xfrm>
            <a:off x="8046720" y="1371600"/>
            <a:ext cx="3429000" cy="1325880"/>
          </a:xfrm>
          <a:prstGeom prst="roundRect">
            <a:avLst>
              <a:gd name="adj" fmla="val 5517"/>
            </a:avLst>
          </a:prstGeom>
          <a:solidFill>
            <a:srgbClr val="FFFFFF"/>
          </a:solidFill>
          <a:ln w="13970">
            <a:solidFill>
              <a:srgbClr val="D7DEE8"/>
            </a:solidFill>
            <a:prstDash val="solid"/>
          </a:ln>
        </p:spPr>
        <p:txBody>
          <a:bodyPr/>
          <a:lstStyle/>
          <a:p>
            <a:endParaRPr lang="en-US"/>
          </a:p>
        </p:txBody>
      </p:sp>
      <p:sp>
        <p:nvSpPr>
          <p:cNvPr id="12" name="Shape 10"/>
          <p:cNvSpPr/>
          <p:nvPr/>
        </p:nvSpPr>
        <p:spPr>
          <a:xfrm>
            <a:off x="8046720" y="1371600"/>
            <a:ext cx="73152" cy="1325880"/>
          </a:xfrm>
          <a:prstGeom prst="rect">
            <a:avLst/>
          </a:prstGeom>
          <a:solidFill>
            <a:srgbClr val="159A9C"/>
          </a:solidFill>
          <a:ln w="12700">
            <a:solidFill>
              <a:srgbClr val="159A9C"/>
            </a:solidFill>
            <a:prstDash val="solid"/>
          </a:ln>
        </p:spPr>
        <p:txBody>
          <a:bodyPr/>
          <a:lstStyle/>
          <a:p>
            <a:endParaRPr lang="en-US"/>
          </a:p>
        </p:txBody>
      </p:sp>
      <p:sp>
        <p:nvSpPr>
          <p:cNvPr id="13" name="Text 11"/>
          <p:cNvSpPr/>
          <p:nvPr/>
        </p:nvSpPr>
        <p:spPr>
          <a:xfrm>
            <a:off x="8247888" y="1517904"/>
            <a:ext cx="310896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modules/*.bicep</a:t>
            </a:r>
            <a:endParaRPr lang="en-US" sz="1500" dirty="0"/>
          </a:p>
        </p:txBody>
      </p:sp>
      <p:sp>
        <p:nvSpPr>
          <p:cNvPr id="14" name="Text 12"/>
          <p:cNvSpPr/>
          <p:nvPr/>
        </p:nvSpPr>
        <p:spPr>
          <a:xfrm>
            <a:off x="8247888" y="1901952"/>
            <a:ext cx="3108960" cy="6675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Each Azure concern stays small, reviewable and vendor-extensible.</a:t>
            </a:r>
            <a:endParaRPr lang="en-US" sz="1050" dirty="0"/>
          </a:p>
        </p:txBody>
      </p:sp>
      <p:sp>
        <p:nvSpPr>
          <p:cNvPr id="15" name="Shape 13"/>
          <p:cNvSpPr/>
          <p:nvPr/>
        </p:nvSpPr>
        <p:spPr>
          <a:xfrm>
            <a:off x="4892040" y="2926080"/>
            <a:ext cx="2880360" cy="1325880"/>
          </a:xfrm>
          <a:prstGeom prst="roundRect">
            <a:avLst>
              <a:gd name="adj" fmla="val 5517"/>
            </a:avLst>
          </a:prstGeom>
          <a:solidFill>
            <a:srgbClr val="FFFFFF"/>
          </a:solidFill>
          <a:ln w="13970">
            <a:solidFill>
              <a:srgbClr val="D7DEE8"/>
            </a:solidFill>
            <a:prstDash val="solid"/>
          </a:ln>
        </p:spPr>
        <p:txBody>
          <a:bodyPr/>
          <a:lstStyle/>
          <a:p>
            <a:endParaRPr lang="en-US"/>
          </a:p>
        </p:txBody>
      </p:sp>
      <p:sp>
        <p:nvSpPr>
          <p:cNvPr id="16" name="Shape 14"/>
          <p:cNvSpPr/>
          <p:nvPr/>
        </p:nvSpPr>
        <p:spPr>
          <a:xfrm>
            <a:off x="4892040" y="2926080"/>
            <a:ext cx="73152" cy="1325880"/>
          </a:xfrm>
          <a:prstGeom prst="rect">
            <a:avLst/>
          </a:prstGeom>
          <a:solidFill>
            <a:srgbClr val="27835E"/>
          </a:solidFill>
          <a:ln w="12700">
            <a:solidFill>
              <a:srgbClr val="27835E"/>
            </a:solidFill>
            <a:prstDash val="solid"/>
          </a:ln>
        </p:spPr>
        <p:txBody>
          <a:bodyPr/>
          <a:lstStyle/>
          <a:p>
            <a:endParaRPr lang="en-US"/>
          </a:p>
        </p:txBody>
      </p:sp>
      <p:sp>
        <p:nvSpPr>
          <p:cNvPr id="17" name="Text 15"/>
          <p:cNvSpPr/>
          <p:nvPr/>
        </p:nvSpPr>
        <p:spPr>
          <a:xfrm>
            <a:off x="5093208" y="3072384"/>
            <a:ext cx="256032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dev.bicepparam</a:t>
            </a:r>
            <a:endParaRPr lang="en-US" sz="1500" dirty="0"/>
          </a:p>
        </p:txBody>
      </p:sp>
      <p:sp>
        <p:nvSpPr>
          <p:cNvPr id="18" name="Text 16"/>
          <p:cNvSpPr/>
          <p:nvPr/>
        </p:nvSpPr>
        <p:spPr>
          <a:xfrm>
            <a:off x="5093208" y="3456432"/>
            <a:ext cx="2560320" cy="6675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The single deployable non-production baseline requested by the brief.</a:t>
            </a:r>
            <a:endParaRPr lang="en-US" sz="1050" dirty="0"/>
          </a:p>
        </p:txBody>
      </p:sp>
      <p:sp>
        <p:nvSpPr>
          <p:cNvPr id="19" name="Shape 17"/>
          <p:cNvSpPr/>
          <p:nvPr/>
        </p:nvSpPr>
        <p:spPr>
          <a:xfrm>
            <a:off x="8046720" y="2926080"/>
            <a:ext cx="3429000" cy="1325880"/>
          </a:xfrm>
          <a:prstGeom prst="roundRect">
            <a:avLst>
              <a:gd name="adj" fmla="val 5517"/>
            </a:avLst>
          </a:prstGeom>
          <a:solidFill>
            <a:srgbClr val="FFFFFF"/>
          </a:solidFill>
          <a:ln w="13970">
            <a:solidFill>
              <a:srgbClr val="D7DEE8"/>
            </a:solidFill>
            <a:prstDash val="solid"/>
          </a:ln>
        </p:spPr>
        <p:txBody>
          <a:bodyPr/>
          <a:lstStyle/>
          <a:p>
            <a:endParaRPr lang="en-US"/>
          </a:p>
        </p:txBody>
      </p:sp>
      <p:sp>
        <p:nvSpPr>
          <p:cNvPr id="20" name="Shape 18"/>
          <p:cNvSpPr/>
          <p:nvPr/>
        </p:nvSpPr>
        <p:spPr>
          <a:xfrm>
            <a:off x="8046720" y="2926080"/>
            <a:ext cx="73152" cy="1325880"/>
          </a:xfrm>
          <a:prstGeom prst="rect">
            <a:avLst/>
          </a:prstGeom>
          <a:solidFill>
            <a:srgbClr val="D9911B"/>
          </a:solidFill>
          <a:ln w="12700">
            <a:solidFill>
              <a:srgbClr val="D9911B"/>
            </a:solidFill>
            <a:prstDash val="solid"/>
          </a:ln>
        </p:spPr>
        <p:txBody>
          <a:bodyPr/>
          <a:lstStyle/>
          <a:p>
            <a:endParaRPr lang="en-US"/>
          </a:p>
        </p:txBody>
      </p:sp>
      <p:sp>
        <p:nvSpPr>
          <p:cNvPr id="21" name="Text 19"/>
          <p:cNvSpPr/>
          <p:nvPr/>
        </p:nvSpPr>
        <p:spPr>
          <a:xfrm>
            <a:off x="8247888" y="3072384"/>
            <a:ext cx="310896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prod.bicepparam.example</a:t>
            </a:r>
            <a:endParaRPr lang="en-US" sz="1500" dirty="0"/>
          </a:p>
        </p:txBody>
      </p:sp>
      <p:sp>
        <p:nvSpPr>
          <p:cNvPr id="22" name="Text 20"/>
          <p:cNvSpPr/>
          <p:nvPr/>
        </p:nvSpPr>
        <p:spPr>
          <a:xfrm>
            <a:off x="8247888" y="3456432"/>
            <a:ext cx="3108960" cy="66751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Same infrastructure definition; production-specific capacity and controls.</a:t>
            </a:r>
            <a:endParaRPr lang="en-US" sz="1050" dirty="0"/>
          </a:p>
        </p:txBody>
      </p:sp>
      <p:sp>
        <p:nvSpPr>
          <p:cNvPr id="23" name="Shape 21"/>
          <p:cNvSpPr/>
          <p:nvPr/>
        </p:nvSpPr>
        <p:spPr>
          <a:xfrm>
            <a:off x="4892040" y="4617720"/>
            <a:ext cx="6583680" cy="1115568"/>
          </a:xfrm>
          <a:prstGeom prst="roundRect">
            <a:avLst/>
          </a:prstGeom>
          <a:solidFill>
            <a:srgbClr val="EAF2FB"/>
          </a:solidFill>
          <a:ln w="13970">
            <a:solidFill>
              <a:srgbClr val="BFD5EE"/>
            </a:solidFill>
            <a:prstDash val="solid"/>
          </a:ln>
        </p:spPr>
        <p:txBody>
          <a:bodyPr/>
          <a:lstStyle/>
          <a:p>
            <a:endParaRPr lang="en-US"/>
          </a:p>
        </p:txBody>
      </p:sp>
      <p:sp>
        <p:nvSpPr>
          <p:cNvPr id="24" name="Text 22"/>
          <p:cNvSpPr/>
          <p:nvPr/>
        </p:nvSpPr>
        <p:spPr>
          <a:xfrm>
            <a:off x="5138928" y="4818888"/>
            <a:ext cx="2011680" cy="228600"/>
          </a:xfrm>
          <a:prstGeom prst="rect">
            <a:avLst/>
          </a:prstGeom>
          <a:noFill/>
          <a:ln/>
        </p:spPr>
        <p:txBody>
          <a:bodyPr wrap="square" lIns="0" tIns="0" rIns="0" bIns="0" rtlCol="0" anchor="ctr"/>
          <a:lstStyle/>
          <a:p>
            <a:pPr marL="0" indent="0">
              <a:buNone/>
            </a:pPr>
            <a:r>
              <a:rPr lang="en-US" sz="1150" b="1" dirty="0">
                <a:solidFill>
                  <a:srgbClr val="0B1F33"/>
                </a:solidFill>
              </a:rPr>
              <a:t>Local validation evidence</a:t>
            </a:r>
            <a:endParaRPr lang="en-US" sz="1150" dirty="0"/>
          </a:p>
        </p:txBody>
      </p:sp>
      <p:sp>
        <p:nvSpPr>
          <p:cNvPr id="25" name="Text 23"/>
          <p:cNvSpPr/>
          <p:nvPr/>
        </p:nvSpPr>
        <p:spPr>
          <a:xfrm>
            <a:off x="5138928" y="5138928"/>
            <a:ext cx="5989320" cy="292608"/>
          </a:xfrm>
          <a:prstGeom prst="rect">
            <a:avLst/>
          </a:prstGeom>
          <a:noFill/>
          <a:ln/>
        </p:spPr>
        <p:txBody>
          <a:bodyPr wrap="square" lIns="0" tIns="0" rIns="0" bIns="0" rtlCol="0" anchor="ctr"/>
          <a:lstStyle/>
          <a:p>
            <a:pPr marL="0" indent="0">
              <a:buNone/>
            </a:pPr>
            <a:r>
              <a:rPr lang="en-US" sz="1200" b="1" dirty="0">
                <a:solidFill>
                  <a:srgbClr val="1E5AA8"/>
                </a:solidFill>
                <a:latin typeface="Consolas" pitchFamily="34" charset="0"/>
                <a:ea typeface="Consolas" pitchFamily="34" charset="-122"/>
                <a:cs typeface="Consolas" pitchFamily="34" charset="-120"/>
              </a:rPr>
              <a:t>az bicep lint  →  az bicep build  →  infra/main.json</a:t>
            </a:r>
            <a:endParaRPr lang="en-US" sz="1200" dirty="0"/>
          </a:p>
        </p:txBody>
      </p:sp>
      <p:sp>
        <p:nvSpPr>
          <p:cNvPr id="26"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411480"/>
            <a:ext cx="9509760" cy="45720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Azure DevOps: controlled promotion</a:t>
            </a:r>
            <a:endParaRPr lang="en-US" sz="2500" dirty="0"/>
          </a:p>
        </p:txBody>
      </p:sp>
      <p:sp>
        <p:nvSpPr>
          <p:cNvPr id="3" name="Text 1"/>
          <p:cNvSpPr/>
          <p:nvPr/>
        </p:nvSpPr>
        <p:spPr>
          <a:xfrm>
            <a:off x="676656" y="896112"/>
            <a:ext cx="9784080" cy="329184"/>
          </a:xfrm>
          <a:prstGeom prst="rect">
            <a:avLst/>
          </a:prstGeom>
          <a:noFill/>
          <a:ln/>
        </p:spPr>
        <p:txBody>
          <a:bodyPr wrap="square" lIns="0" tIns="0" rIns="0" bIns="0" rtlCol="0" anchor="ctr"/>
          <a:lstStyle/>
          <a:p>
            <a:pPr marL="0" indent="0">
              <a:buNone/>
            </a:pPr>
            <a:r>
              <a:rPr lang="en-US" sz="1150" dirty="0">
                <a:solidFill>
                  <a:srgbClr val="667085"/>
                </a:solidFill>
                <a:latin typeface="Aptos" pitchFamily="34" charset="0"/>
                <a:ea typeface="Aptos" pitchFamily="34" charset="-122"/>
                <a:cs typeface="Aptos" pitchFamily="34" charset="-120"/>
              </a:rPr>
              <a:t>Build once, publish a validated IaC artifact, and keep Production authority outside vendor-editable YAML.</a:t>
            </a:r>
            <a:endParaRPr lang="en-US" sz="1150" dirty="0"/>
          </a:p>
        </p:txBody>
      </p:sp>
      <p:sp>
        <p:nvSpPr>
          <p:cNvPr id="5" name="Shape 3"/>
          <p:cNvSpPr/>
          <p:nvPr/>
        </p:nvSpPr>
        <p:spPr>
          <a:xfrm>
            <a:off x="685800" y="2084832"/>
            <a:ext cx="1417320" cy="1280160"/>
          </a:xfrm>
          <a:prstGeom prst="roundRect">
            <a:avLst/>
          </a:prstGeom>
          <a:solidFill>
            <a:srgbClr val="FFFFFF"/>
          </a:solidFill>
          <a:ln w="15240">
            <a:solidFill>
              <a:srgbClr val="1E5AA8"/>
            </a:solidFill>
            <a:prstDash val="solid"/>
          </a:ln>
        </p:spPr>
        <p:txBody>
          <a:bodyPr/>
          <a:lstStyle/>
          <a:p>
            <a:endParaRPr lang="en-US"/>
          </a:p>
        </p:txBody>
      </p:sp>
      <p:sp>
        <p:nvSpPr>
          <p:cNvPr id="6" name="Text 4"/>
          <p:cNvSpPr/>
          <p:nvPr/>
        </p:nvSpPr>
        <p:spPr>
          <a:xfrm>
            <a:off x="758952" y="2231136"/>
            <a:ext cx="127101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Pull Request</a:t>
            </a:r>
            <a:endParaRPr lang="en-US" sz="1300" dirty="0"/>
          </a:p>
        </p:txBody>
      </p:sp>
      <p:sp>
        <p:nvSpPr>
          <p:cNvPr id="7" name="Text 5"/>
          <p:cNvSpPr/>
          <p:nvPr/>
        </p:nvSpPr>
        <p:spPr>
          <a:xfrm>
            <a:off x="758952" y="2523744"/>
            <a:ext cx="1271016" cy="7680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Review + branch policy</a:t>
            </a:r>
            <a:endParaRPr lang="en-US" sz="950" dirty="0"/>
          </a:p>
        </p:txBody>
      </p:sp>
      <p:sp>
        <p:nvSpPr>
          <p:cNvPr id="8" name="Shape 6"/>
          <p:cNvSpPr/>
          <p:nvPr/>
        </p:nvSpPr>
        <p:spPr>
          <a:xfrm>
            <a:off x="2249424" y="2523744"/>
            <a:ext cx="384048" cy="384048"/>
          </a:xfrm>
          <a:prstGeom prst="chevron">
            <a:avLst/>
          </a:prstGeom>
          <a:solidFill>
            <a:srgbClr val="9EB0C4"/>
          </a:solidFill>
          <a:ln w="12700">
            <a:solidFill>
              <a:srgbClr val="9EB0C4"/>
            </a:solidFill>
            <a:prstDash val="solid"/>
          </a:ln>
        </p:spPr>
        <p:txBody>
          <a:bodyPr/>
          <a:lstStyle/>
          <a:p>
            <a:endParaRPr lang="en-US"/>
          </a:p>
        </p:txBody>
      </p:sp>
      <p:sp>
        <p:nvSpPr>
          <p:cNvPr id="9" name="Shape 7"/>
          <p:cNvSpPr/>
          <p:nvPr/>
        </p:nvSpPr>
        <p:spPr>
          <a:xfrm>
            <a:off x="2697480" y="2084832"/>
            <a:ext cx="1417320" cy="1280160"/>
          </a:xfrm>
          <a:prstGeom prst="roundRect">
            <a:avLst/>
          </a:prstGeom>
          <a:solidFill>
            <a:srgbClr val="EAF2FB"/>
          </a:solidFill>
          <a:ln w="15240">
            <a:solidFill>
              <a:srgbClr val="1E5AA8"/>
            </a:solidFill>
            <a:prstDash val="solid"/>
          </a:ln>
        </p:spPr>
        <p:txBody>
          <a:bodyPr/>
          <a:lstStyle/>
          <a:p>
            <a:endParaRPr lang="en-US"/>
          </a:p>
        </p:txBody>
      </p:sp>
      <p:sp>
        <p:nvSpPr>
          <p:cNvPr id="10" name="Text 8"/>
          <p:cNvSpPr/>
          <p:nvPr/>
        </p:nvSpPr>
        <p:spPr>
          <a:xfrm>
            <a:off x="2770632" y="2231136"/>
            <a:ext cx="127101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Build / Validate</a:t>
            </a:r>
            <a:endParaRPr lang="en-US" sz="1300" dirty="0"/>
          </a:p>
        </p:txBody>
      </p:sp>
      <p:sp>
        <p:nvSpPr>
          <p:cNvPr id="11" name="Text 9"/>
          <p:cNvSpPr/>
          <p:nvPr/>
        </p:nvSpPr>
        <p:spPr>
          <a:xfrm>
            <a:off x="2770632" y="2523744"/>
            <a:ext cx="1271016" cy="7680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Quality + Bicep lint/build</a:t>
            </a:r>
            <a:endParaRPr lang="en-US" sz="950" dirty="0"/>
          </a:p>
        </p:txBody>
      </p:sp>
      <p:sp>
        <p:nvSpPr>
          <p:cNvPr id="12" name="Shape 10"/>
          <p:cNvSpPr/>
          <p:nvPr/>
        </p:nvSpPr>
        <p:spPr>
          <a:xfrm>
            <a:off x="4261104" y="2523744"/>
            <a:ext cx="384048" cy="384048"/>
          </a:xfrm>
          <a:prstGeom prst="chevron">
            <a:avLst/>
          </a:prstGeom>
          <a:solidFill>
            <a:srgbClr val="9EB0C4"/>
          </a:solidFill>
          <a:ln w="12700">
            <a:solidFill>
              <a:srgbClr val="9EB0C4"/>
            </a:solidFill>
            <a:prstDash val="solid"/>
          </a:ln>
        </p:spPr>
        <p:txBody>
          <a:bodyPr/>
          <a:lstStyle/>
          <a:p>
            <a:endParaRPr lang="en-US"/>
          </a:p>
        </p:txBody>
      </p:sp>
      <p:sp>
        <p:nvSpPr>
          <p:cNvPr id="13" name="Shape 11"/>
          <p:cNvSpPr/>
          <p:nvPr/>
        </p:nvSpPr>
        <p:spPr>
          <a:xfrm>
            <a:off x="4709160" y="2084832"/>
            <a:ext cx="1417320" cy="1280160"/>
          </a:xfrm>
          <a:prstGeom prst="roundRect">
            <a:avLst/>
          </a:prstGeom>
          <a:solidFill>
            <a:srgbClr val="E8F6F5"/>
          </a:solidFill>
          <a:ln w="15240">
            <a:solidFill>
              <a:srgbClr val="159A9C"/>
            </a:solidFill>
            <a:prstDash val="solid"/>
          </a:ln>
        </p:spPr>
        <p:txBody>
          <a:bodyPr/>
          <a:lstStyle/>
          <a:p>
            <a:endParaRPr lang="en-US"/>
          </a:p>
        </p:txBody>
      </p:sp>
      <p:sp>
        <p:nvSpPr>
          <p:cNvPr id="14" name="Text 12"/>
          <p:cNvSpPr/>
          <p:nvPr/>
        </p:nvSpPr>
        <p:spPr>
          <a:xfrm>
            <a:off x="4782312" y="2231136"/>
            <a:ext cx="127101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IaC Artifact</a:t>
            </a:r>
            <a:endParaRPr lang="en-US" sz="1300" dirty="0"/>
          </a:p>
        </p:txBody>
      </p:sp>
      <p:sp>
        <p:nvSpPr>
          <p:cNvPr id="15" name="Text 13"/>
          <p:cNvSpPr/>
          <p:nvPr/>
        </p:nvSpPr>
        <p:spPr>
          <a:xfrm>
            <a:off x="4782312" y="2523744"/>
            <a:ext cx="1271016" cy="7680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main.json + params</a:t>
            </a:r>
            <a:endParaRPr lang="en-US" sz="950" dirty="0"/>
          </a:p>
        </p:txBody>
      </p:sp>
      <p:sp>
        <p:nvSpPr>
          <p:cNvPr id="16" name="Shape 14"/>
          <p:cNvSpPr/>
          <p:nvPr/>
        </p:nvSpPr>
        <p:spPr>
          <a:xfrm>
            <a:off x="6272784" y="2523744"/>
            <a:ext cx="384048" cy="384048"/>
          </a:xfrm>
          <a:prstGeom prst="chevron">
            <a:avLst/>
          </a:prstGeom>
          <a:solidFill>
            <a:srgbClr val="9EB0C4"/>
          </a:solidFill>
          <a:ln w="12700">
            <a:solidFill>
              <a:srgbClr val="9EB0C4"/>
            </a:solidFill>
            <a:prstDash val="solid"/>
          </a:ln>
        </p:spPr>
        <p:txBody>
          <a:bodyPr/>
          <a:lstStyle/>
          <a:p>
            <a:endParaRPr lang="en-US"/>
          </a:p>
        </p:txBody>
      </p:sp>
      <p:sp>
        <p:nvSpPr>
          <p:cNvPr id="17" name="Shape 15"/>
          <p:cNvSpPr/>
          <p:nvPr/>
        </p:nvSpPr>
        <p:spPr>
          <a:xfrm>
            <a:off x="6720840" y="2084832"/>
            <a:ext cx="1417320" cy="1280160"/>
          </a:xfrm>
          <a:prstGeom prst="roundRect">
            <a:avLst/>
          </a:prstGeom>
          <a:solidFill>
            <a:srgbClr val="EAF6EF"/>
          </a:solidFill>
          <a:ln w="15240">
            <a:solidFill>
              <a:srgbClr val="27835E"/>
            </a:solidFill>
            <a:prstDash val="solid"/>
          </a:ln>
        </p:spPr>
        <p:txBody>
          <a:bodyPr/>
          <a:lstStyle/>
          <a:p>
            <a:endParaRPr lang="en-US"/>
          </a:p>
        </p:txBody>
      </p:sp>
      <p:sp>
        <p:nvSpPr>
          <p:cNvPr id="18" name="Text 16"/>
          <p:cNvSpPr/>
          <p:nvPr/>
        </p:nvSpPr>
        <p:spPr>
          <a:xfrm>
            <a:off x="6793992" y="2231136"/>
            <a:ext cx="127101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Deploy DEV</a:t>
            </a:r>
            <a:endParaRPr lang="en-US" sz="1300" dirty="0"/>
          </a:p>
        </p:txBody>
      </p:sp>
      <p:sp>
        <p:nvSpPr>
          <p:cNvPr id="19" name="Text 17"/>
          <p:cNvSpPr/>
          <p:nvPr/>
        </p:nvSpPr>
        <p:spPr>
          <a:xfrm>
            <a:off x="6793992" y="2523744"/>
            <a:ext cx="1271016" cy="7680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Validate + deploy</a:t>
            </a:r>
            <a:endParaRPr lang="en-US" sz="950" dirty="0"/>
          </a:p>
        </p:txBody>
      </p:sp>
      <p:sp>
        <p:nvSpPr>
          <p:cNvPr id="20" name="Shape 18"/>
          <p:cNvSpPr/>
          <p:nvPr/>
        </p:nvSpPr>
        <p:spPr>
          <a:xfrm>
            <a:off x="8284464" y="2523744"/>
            <a:ext cx="384048" cy="384048"/>
          </a:xfrm>
          <a:prstGeom prst="chevron">
            <a:avLst/>
          </a:prstGeom>
          <a:solidFill>
            <a:srgbClr val="9EB0C4"/>
          </a:solidFill>
          <a:ln w="12700">
            <a:solidFill>
              <a:srgbClr val="9EB0C4"/>
            </a:solidFill>
            <a:prstDash val="solid"/>
          </a:ln>
        </p:spPr>
        <p:txBody>
          <a:bodyPr/>
          <a:lstStyle/>
          <a:p>
            <a:endParaRPr lang="en-US"/>
          </a:p>
        </p:txBody>
      </p:sp>
      <p:sp>
        <p:nvSpPr>
          <p:cNvPr id="21" name="Shape 19"/>
          <p:cNvSpPr/>
          <p:nvPr/>
        </p:nvSpPr>
        <p:spPr>
          <a:xfrm>
            <a:off x="8732520" y="2084832"/>
            <a:ext cx="1417320" cy="1280160"/>
          </a:xfrm>
          <a:prstGeom prst="roundRect">
            <a:avLst/>
          </a:prstGeom>
          <a:solidFill>
            <a:srgbClr val="FFF5E3"/>
          </a:solidFill>
          <a:ln w="15240">
            <a:solidFill>
              <a:srgbClr val="D9911B"/>
            </a:solidFill>
            <a:prstDash val="solid"/>
          </a:ln>
        </p:spPr>
        <p:txBody>
          <a:bodyPr/>
          <a:lstStyle/>
          <a:p>
            <a:endParaRPr lang="en-US"/>
          </a:p>
        </p:txBody>
      </p:sp>
      <p:sp>
        <p:nvSpPr>
          <p:cNvPr id="22" name="Text 20"/>
          <p:cNvSpPr/>
          <p:nvPr/>
        </p:nvSpPr>
        <p:spPr>
          <a:xfrm>
            <a:off x="8805672" y="2231136"/>
            <a:ext cx="127101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claims-prod</a:t>
            </a:r>
            <a:endParaRPr lang="en-US" sz="1300" dirty="0"/>
          </a:p>
        </p:txBody>
      </p:sp>
      <p:sp>
        <p:nvSpPr>
          <p:cNvPr id="23" name="Text 21"/>
          <p:cNvSpPr/>
          <p:nvPr/>
        </p:nvSpPr>
        <p:spPr>
          <a:xfrm>
            <a:off x="8805672" y="2523744"/>
            <a:ext cx="1271016" cy="7680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Indigo approval/checks</a:t>
            </a:r>
            <a:endParaRPr lang="en-US" sz="950" dirty="0"/>
          </a:p>
        </p:txBody>
      </p:sp>
      <p:sp>
        <p:nvSpPr>
          <p:cNvPr id="24" name="Shape 22"/>
          <p:cNvSpPr/>
          <p:nvPr/>
        </p:nvSpPr>
        <p:spPr>
          <a:xfrm>
            <a:off x="10296144" y="2523744"/>
            <a:ext cx="384048" cy="384048"/>
          </a:xfrm>
          <a:prstGeom prst="chevron">
            <a:avLst/>
          </a:prstGeom>
          <a:solidFill>
            <a:srgbClr val="9EB0C4"/>
          </a:solidFill>
          <a:ln w="12700">
            <a:solidFill>
              <a:srgbClr val="9EB0C4"/>
            </a:solidFill>
            <a:prstDash val="solid"/>
          </a:ln>
        </p:spPr>
        <p:txBody>
          <a:bodyPr/>
          <a:lstStyle/>
          <a:p>
            <a:endParaRPr lang="en-US"/>
          </a:p>
        </p:txBody>
      </p:sp>
      <p:sp>
        <p:nvSpPr>
          <p:cNvPr id="25" name="Shape 23"/>
          <p:cNvSpPr/>
          <p:nvPr/>
        </p:nvSpPr>
        <p:spPr>
          <a:xfrm>
            <a:off x="10774392" y="2075688"/>
            <a:ext cx="1051560" cy="1280160"/>
          </a:xfrm>
          <a:prstGeom prst="roundRect">
            <a:avLst/>
          </a:prstGeom>
          <a:solidFill>
            <a:srgbClr val="F7ECEC"/>
          </a:solidFill>
          <a:ln w="15240">
            <a:solidFill>
              <a:srgbClr val="B84A4A"/>
            </a:solidFill>
            <a:prstDash val="solid"/>
          </a:ln>
        </p:spPr>
        <p:txBody>
          <a:bodyPr/>
          <a:lstStyle/>
          <a:p>
            <a:endParaRPr lang="en-US"/>
          </a:p>
        </p:txBody>
      </p:sp>
      <p:sp>
        <p:nvSpPr>
          <p:cNvPr id="26" name="Text 24"/>
          <p:cNvSpPr/>
          <p:nvPr/>
        </p:nvSpPr>
        <p:spPr>
          <a:xfrm>
            <a:off x="10840212" y="2222941"/>
            <a:ext cx="905256" cy="256032"/>
          </a:xfrm>
          <a:prstGeom prst="rect">
            <a:avLst/>
          </a:prstGeom>
          <a:noFill/>
          <a:ln/>
        </p:spPr>
        <p:txBody>
          <a:bodyPr wrap="square" lIns="0" tIns="0" rIns="0" bIns="0" rtlCol="0" anchor="ctr"/>
          <a:lstStyle/>
          <a:p>
            <a:pPr marL="0" indent="0" algn="ctr">
              <a:buNone/>
            </a:pPr>
            <a:r>
              <a:rPr lang="en-US" sz="1300" b="1" dirty="0">
                <a:solidFill>
                  <a:srgbClr val="0B1F33"/>
                </a:solidFill>
                <a:latin typeface="Aptos" pitchFamily="34" charset="0"/>
                <a:ea typeface="Aptos" pitchFamily="34" charset="-122"/>
                <a:cs typeface="Aptos" pitchFamily="34" charset="-120"/>
              </a:rPr>
              <a:t>PROD</a:t>
            </a:r>
            <a:endParaRPr lang="en-US" sz="1300" dirty="0"/>
          </a:p>
        </p:txBody>
      </p:sp>
      <p:sp>
        <p:nvSpPr>
          <p:cNvPr id="27" name="Text 25"/>
          <p:cNvSpPr/>
          <p:nvPr/>
        </p:nvSpPr>
        <p:spPr>
          <a:xfrm>
            <a:off x="10828394" y="2523744"/>
            <a:ext cx="905256" cy="768096"/>
          </a:xfrm>
          <a:prstGeom prst="rect">
            <a:avLst/>
          </a:prstGeom>
          <a:noFill/>
          <a:ln/>
        </p:spPr>
        <p:txBody>
          <a:bodyPr wrap="square" lIns="0" tIns="0" rIns="0" bIns="0" rtlCol="0" anchor="ctr"/>
          <a:lstStyle/>
          <a:p>
            <a:pPr marL="0" indent="0" algn="ctr">
              <a:buNone/>
            </a:pPr>
            <a:r>
              <a:rPr lang="en-US" sz="950" dirty="0">
                <a:solidFill>
                  <a:srgbClr val="667085"/>
                </a:solidFill>
                <a:latin typeface="Aptos" pitchFamily="34" charset="0"/>
                <a:ea typeface="Aptos" pitchFamily="34" charset="-122"/>
                <a:cs typeface="Aptos" pitchFamily="34" charset="-120"/>
              </a:rPr>
              <a:t>Same artifact</a:t>
            </a:r>
            <a:endParaRPr lang="en-US" sz="950" dirty="0"/>
          </a:p>
        </p:txBody>
      </p:sp>
      <p:sp>
        <p:nvSpPr>
          <p:cNvPr id="28" name="Shape 26"/>
          <p:cNvSpPr/>
          <p:nvPr/>
        </p:nvSpPr>
        <p:spPr>
          <a:xfrm>
            <a:off x="1005840" y="3977640"/>
            <a:ext cx="4937760" cy="1325880"/>
          </a:xfrm>
          <a:prstGeom prst="roundRect">
            <a:avLst/>
          </a:prstGeom>
          <a:solidFill>
            <a:srgbClr val="FFFFFF"/>
          </a:solidFill>
          <a:ln w="13970">
            <a:solidFill>
              <a:srgbClr val="D7DEE8"/>
            </a:solidFill>
            <a:prstDash val="solid"/>
          </a:ln>
        </p:spPr>
        <p:txBody>
          <a:bodyPr/>
          <a:lstStyle/>
          <a:p>
            <a:endParaRPr lang="en-US"/>
          </a:p>
        </p:txBody>
      </p:sp>
      <p:sp>
        <p:nvSpPr>
          <p:cNvPr id="29" name="Text 27"/>
          <p:cNvSpPr/>
          <p:nvPr/>
        </p:nvSpPr>
        <p:spPr>
          <a:xfrm>
            <a:off x="1261872" y="4206240"/>
            <a:ext cx="2560320" cy="256032"/>
          </a:xfrm>
          <a:prstGeom prst="rect">
            <a:avLst/>
          </a:prstGeom>
          <a:noFill/>
          <a:ln/>
        </p:spPr>
        <p:txBody>
          <a:bodyPr wrap="square" lIns="0" tIns="0" rIns="0" bIns="0" rtlCol="0" anchor="ctr"/>
          <a:lstStyle/>
          <a:p>
            <a:pPr marL="0" indent="0">
              <a:buNone/>
            </a:pPr>
            <a:r>
              <a:rPr lang="en-US" sz="1350" b="1" dirty="0">
                <a:solidFill>
                  <a:srgbClr val="0B1F33"/>
                </a:solidFill>
              </a:rPr>
              <a:t>Quality gates stop promotion</a:t>
            </a:r>
            <a:endParaRPr lang="en-US" sz="1350" dirty="0"/>
          </a:p>
        </p:txBody>
      </p:sp>
      <p:sp>
        <p:nvSpPr>
          <p:cNvPr id="30" name="Text 28"/>
          <p:cNvSpPr/>
          <p:nvPr/>
        </p:nvSpPr>
        <p:spPr>
          <a:xfrm>
            <a:off x="1261872" y="4553712"/>
            <a:ext cx="4370832" cy="512064"/>
          </a:xfrm>
          <a:prstGeom prst="rect">
            <a:avLst/>
          </a:prstGeom>
          <a:noFill/>
          <a:ln/>
        </p:spPr>
        <p:txBody>
          <a:bodyPr wrap="square" lIns="0" tIns="0" rIns="0" bIns="0" rtlCol="0" anchor="ctr"/>
          <a:lstStyle/>
          <a:p>
            <a:pPr marL="0" indent="0">
              <a:buNone/>
            </a:pPr>
            <a:r>
              <a:rPr lang="en-US" sz="1020" dirty="0">
                <a:solidFill>
                  <a:srgbClr val="1F2937"/>
                </a:solidFill>
              </a:rPr>
              <a:t>Static/security integration points, Bicep validation, Azure deployment validation and DEV verification all influence whether the release proceeds.</a:t>
            </a:r>
            <a:endParaRPr lang="en-US" sz="1020" dirty="0"/>
          </a:p>
        </p:txBody>
      </p:sp>
      <p:sp>
        <p:nvSpPr>
          <p:cNvPr id="31" name="Shape 29"/>
          <p:cNvSpPr/>
          <p:nvPr/>
        </p:nvSpPr>
        <p:spPr>
          <a:xfrm>
            <a:off x="6263640" y="3977640"/>
            <a:ext cx="4892040" cy="1325880"/>
          </a:xfrm>
          <a:prstGeom prst="roundRect">
            <a:avLst/>
          </a:prstGeom>
          <a:solidFill>
            <a:srgbClr val="FFF5E3"/>
          </a:solidFill>
          <a:ln w="13970">
            <a:solidFill>
              <a:srgbClr val="E7C888"/>
            </a:solidFill>
            <a:prstDash val="solid"/>
          </a:ln>
        </p:spPr>
        <p:txBody>
          <a:bodyPr/>
          <a:lstStyle/>
          <a:p>
            <a:endParaRPr lang="en-US"/>
          </a:p>
        </p:txBody>
      </p:sp>
      <p:sp>
        <p:nvSpPr>
          <p:cNvPr id="32" name="Text 30"/>
          <p:cNvSpPr/>
          <p:nvPr/>
        </p:nvSpPr>
        <p:spPr>
          <a:xfrm>
            <a:off x="6510528" y="4206240"/>
            <a:ext cx="2697480" cy="256032"/>
          </a:xfrm>
          <a:prstGeom prst="rect">
            <a:avLst/>
          </a:prstGeom>
          <a:noFill/>
          <a:ln/>
        </p:spPr>
        <p:txBody>
          <a:bodyPr wrap="square" lIns="0" tIns="0" rIns="0" bIns="0" rtlCol="0" anchor="ctr"/>
          <a:lstStyle/>
          <a:p>
            <a:pPr marL="0" indent="0">
              <a:buNone/>
            </a:pPr>
            <a:r>
              <a:rPr lang="en-US" sz="1350" b="1" dirty="0">
                <a:solidFill>
                  <a:srgbClr val="0B1F33"/>
                </a:solidFill>
              </a:rPr>
              <a:t>Strongest governance control</a:t>
            </a:r>
            <a:endParaRPr lang="en-US" sz="1350" dirty="0"/>
          </a:p>
        </p:txBody>
      </p:sp>
      <p:sp>
        <p:nvSpPr>
          <p:cNvPr id="33" name="Text 31"/>
          <p:cNvSpPr/>
          <p:nvPr/>
        </p:nvSpPr>
        <p:spPr>
          <a:xfrm>
            <a:off x="6510528" y="4553712"/>
            <a:ext cx="4251960" cy="512064"/>
          </a:xfrm>
          <a:prstGeom prst="rect">
            <a:avLst/>
          </a:prstGeom>
          <a:noFill/>
          <a:ln/>
        </p:spPr>
        <p:txBody>
          <a:bodyPr wrap="square" lIns="0" tIns="0" rIns="0" bIns="0" rtlCol="0" anchor="ctr"/>
          <a:lstStyle/>
          <a:p>
            <a:pPr marL="0" indent="0">
              <a:buNone/>
            </a:pPr>
            <a:r>
              <a:rPr lang="en-US" sz="1020" dirty="0">
                <a:solidFill>
                  <a:srgbClr val="1F2937"/>
                </a:solidFill>
              </a:rPr>
              <a:t>Production approval is configured on the Azure DevOps claims-prod Environment, so it is not removable merely by editing repository YAML.</a:t>
            </a:r>
            <a:endParaRPr lang="en-US" sz="1020" dirty="0"/>
          </a:p>
        </p:txBody>
      </p:sp>
      <p:sp>
        <p:nvSpPr>
          <p:cNvPr id="34"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411480"/>
            <a:ext cx="9509760" cy="45720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Governance, security and ownership</a:t>
            </a:r>
            <a:endParaRPr lang="en-US" sz="2500" dirty="0"/>
          </a:p>
        </p:txBody>
      </p:sp>
      <p:sp>
        <p:nvSpPr>
          <p:cNvPr id="3" name="Text 1"/>
          <p:cNvSpPr/>
          <p:nvPr/>
        </p:nvSpPr>
        <p:spPr>
          <a:xfrm>
            <a:off x="676656" y="896112"/>
            <a:ext cx="9784080" cy="329184"/>
          </a:xfrm>
          <a:prstGeom prst="rect">
            <a:avLst/>
          </a:prstGeom>
          <a:noFill/>
          <a:ln/>
        </p:spPr>
        <p:txBody>
          <a:bodyPr wrap="square" lIns="0" tIns="0" rIns="0" bIns="0" rtlCol="0" anchor="ctr"/>
          <a:lstStyle/>
          <a:p>
            <a:pPr marL="0" indent="0">
              <a:buNone/>
            </a:pPr>
            <a:r>
              <a:rPr lang="en-US" sz="1150" dirty="0">
                <a:solidFill>
                  <a:srgbClr val="667085"/>
                </a:solidFill>
                <a:latin typeface="Aptos" pitchFamily="34" charset="0"/>
                <a:ea typeface="Aptos" pitchFamily="34" charset="-122"/>
                <a:cs typeface="Aptos" pitchFamily="34" charset="-120"/>
              </a:rPr>
              <a:t>Central guardrails without turning governance into manual bureaucracy.</a:t>
            </a:r>
            <a:endParaRPr lang="en-US" sz="1150" dirty="0"/>
          </a:p>
        </p:txBody>
      </p:sp>
      <p:sp>
        <p:nvSpPr>
          <p:cNvPr id="5" name="Shape 3"/>
          <p:cNvSpPr/>
          <p:nvPr/>
        </p:nvSpPr>
        <p:spPr>
          <a:xfrm>
            <a:off x="685800" y="1371600"/>
            <a:ext cx="3520440" cy="4160520"/>
          </a:xfrm>
          <a:prstGeom prst="roundRect">
            <a:avLst/>
          </a:prstGeom>
          <a:solidFill>
            <a:srgbClr val="EAF2FB"/>
          </a:solidFill>
          <a:ln w="13970">
            <a:solidFill>
              <a:srgbClr val="BFD5EE"/>
            </a:solidFill>
            <a:prstDash val="solid"/>
          </a:ln>
        </p:spPr>
        <p:txBody>
          <a:bodyPr/>
          <a:lstStyle/>
          <a:p>
            <a:endParaRPr lang="en-US"/>
          </a:p>
        </p:txBody>
      </p:sp>
      <p:sp>
        <p:nvSpPr>
          <p:cNvPr id="6" name="Text 4"/>
          <p:cNvSpPr/>
          <p:nvPr/>
        </p:nvSpPr>
        <p:spPr>
          <a:xfrm>
            <a:off x="960120" y="1627632"/>
            <a:ext cx="2194560" cy="310896"/>
          </a:xfrm>
          <a:prstGeom prst="rect">
            <a:avLst/>
          </a:prstGeom>
          <a:noFill/>
          <a:ln/>
        </p:spPr>
        <p:txBody>
          <a:bodyPr wrap="square" lIns="0" tIns="0" rIns="0" bIns="0" rtlCol="0" anchor="ctr"/>
          <a:lstStyle/>
          <a:p>
            <a:pPr marL="0" indent="0">
              <a:buNone/>
            </a:pPr>
            <a:r>
              <a:rPr lang="en-US" sz="1700" b="1" dirty="0">
                <a:solidFill>
                  <a:srgbClr val="0B1F33"/>
                </a:solidFill>
              </a:rPr>
              <a:t>Indigo owns</a:t>
            </a:r>
            <a:endParaRPr lang="en-US" sz="1700" dirty="0"/>
          </a:p>
        </p:txBody>
      </p:sp>
      <p:sp>
        <p:nvSpPr>
          <p:cNvPr id="7" name="Text 5"/>
          <p:cNvSpPr/>
          <p:nvPr/>
        </p:nvSpPr>
        <p:spPr>
          <a:xfrm>
            <a:off x="932688" y="2084832"/>
            <a:ext cx="2926080" cy="2834640"/>
          </a:xfrm>
          <a:prstGeom prst="rect">
            <a:avLst/>
          </a:prstGeom>
          <a:noFill/>
          <a:ln/>
        </p:spPr>
        <p:txBody>
          <a:bodyPr wrap="square" lIns="508" tIns="508" rIns="508" bIns="508" rtlCol="0" anchor="t"/>
          <a:lstStyle/>
          <a:p>
            <a:pPr marL="156464" indent="-156464">
              <a:buSzPct val="100000"/>
              <a:buChar char="•"/>
            </a:pPr>
            <a:r>
              <a:rPr lang="en-US" sz="1120" dirty="0">
                <a:solidFill>
                  <a:srgbClr val="1F2937"/>
                </a:solidFill>
                <a:latin typeface="Aptos" pitchFamily="34" charset="0"/>
                <a:ea typeface="Aptos" pitchFamily="34" charset="-122"/>
                <a:cs typeface="Aptos" pitchFamily="34" charset="-120"/>
              </a:rPr>
              <a:t>Reference architecture and guardrails</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Azure subscriptions and least-privilege RBAC</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Bicep baseline and naming/tagging standards</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Key Vault access policy</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Production approval and release authority</a:t>
            </a:r>
            <a:endParaRPr lang="en-US" sz="1120" dirty="0"/>
          </a:p>
        </p:txBody>
      </p:sp>
      <p:sp>
        <p:nvSpPr>
          <p:cNvPr id="8" name="Shape 6"/>
          <p:cNvSpPr/>
          <p:nvPr/>
        </p:nvSpPr>
        <p:spPr>
          <a:xfrm>
            <a:off x="4343400" y="1371600"/>
            <a:ext cx="3520440" cy="4160520"/>
          </a:xfrm>
          <a:prstGeom prst="roundRect">
            <a:avLst/>
          </a:prstGeom>
          <a:solidFill>
            <a:srgbClr val="E8F6F5"/>
          </a:solidFill>
          <a:ln w="13970">
            <a:solidFill>
              <a:srgbClr val="B7DEDC"/>
            </a:solidFill>
            <a:prstDash val="solid"/>
          </a:ln>
        </p:spPr>
        <p:txBody>
          <a:bodyPr/>
          <a:lstStyle/>
          <a:p>
            <a:endParaRPr lang="en-US"/>
          </a:p>
        </p:txBody>
      </p:sp>
      <p:sp>
        <p:nvSpPr>
          <p:cNvPr id="9" name="Text 7"/>
          <p:cNvSpPr/>
          <p:nvPr/>
        </p:nvSpPr>
        <p:spPr>
          <a:xfrm>
            <a:off x="4617720" y="1627632"/>
            <a:ext cx="2194560" cy="310896"/>
          </a:xfrm>
          <a:prstGeom prst="rect">
            <a:avLst/>
          </a:prstGeom>
          <a:noFill/>
          <a:ln/>
        </p:spPr>
        <p:txBody>
          <a:bodyPr wrap="square" lIns="0" tIns="0" rIns="0" bIns="0" rtlCol="0" anchor="ctr"/>
          <a:lstStyle/>
          <a:p>
            <a:pPr marL="0" indent="0">
              <a:buNone/>
            </a:pPr>
            <a:r>
              <a:rPr lang="en-US" sz="1700" b="1" dirty="0">
                <a:solidFill>
                  <a:srgbClr val="0B1F33"/>
                </a:solidFill>
              </a:rPr>
              <a:t>Vendor owns</a:t>
            </a:r>
            <a:endParaRPr lang="en-US" sz="1700" dirty="0"/>
          </a:p>
        </p:txBody>
      </p:sp>
      <p:sp>
        <p:nvSpPr>
          <p:cNvPr id="10" name="Text 8"/>
          <p:cNvSpPr/>
          <p:nvPr/>
        </p:nvSpPr>
        <p:spPr>
          <a:xfrm>
            <a:off x="4590288" y="2084832"/>
            <a:ext cx="2926080" cy="2834640"/>
          </a:xfrm>
          <a:prstGeom prst="rect">
            <a:avLst/>
          </a:prstGeom>
          <a:noFill/>
          <a:ln/>
        </p:spPr>
        <p:txBody>
          <a:bodyPr wrap="square" lIns="508" tIns="508" rIns="508" bIns="508" rtlCol="0" anchor="t"/>
          <a:lstStyle/>
          <a:p>
            <a:pPr marL="156464" indent="-156464">
              <a:buSzPct val="100000"/>
              <a:buChar char="•"/>
            </a:pPr>
            <a:r>
              <a:rPr lang="en-US" sz="1120" dirty="0">
                <a:solidFill>
                  <a:srgbClr val="1F2937"/>
                </a:solidFill>
                <a:latin typeface="Aptos" pitchFamily="34" charset="0"/>
                <a:ea typeface="Aptos" pitchFamily="34" charset="-122"/>
                <a:cs typeface="Aptos" pitchFamily="34" charset="-120"/>
              </a:rPr>
              <a:t>Application implementation within the baseline</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Automated tests and quality evidence</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Security finding remediation</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Required telemetry and operational runbook</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Handover documentation and support</a:t>
            </a:r>
            <a:endParaRPr lang="en-US" sz="1120" dirty="0"/>
          </a:p>
        </p:txBody>
      </p:sp>
      <p:sp>
        <p:nvSpPr>
          <p:cNvPr id="11" name="Shape 9"/>
          <p:cNvSpPr/>
          <p:nvPr/>
        </p:nvSpPr>
        <p:spPr>
          <a:xfrm>
            <a:off x="8001000" y="1371600"/>
            <a:ext cx="3520440" cy="4160520"/>
          </a:xfrm>
          <a:prstGeom prst="roundRect">
            <a:avLst/>
          </a:prstGeom>
          <a:solidFill>
            <a:srgbClr val="EAF6EF"/>
          </a:solidFill>
          <a:ln w="13970">
            <a:solidFill>
              <a:srgbClr val="BEDCCB"/>
            </a:solidFill>
            <a:prstDash val="solid"/>
          </a:ln>
        </p:spPr>
        <p:txBody>
          <a:bodyPr/>
          <a:lstStyle/>
          <a:p>
            <a:endParaRPr lang="en-US"/>
          </a:p>
        </p:txBody>
      </p:sp>
      <p:sp>
        <p:nvSpPr>
          <p:cNvPr id="12" name="Text 10"/>
          <p:cNvSpPr/>
          <p:nvPr/>
        </p:nvSpPr>
        <p:spPr>
          <a:xfrm>
            <a:off x="8275320" y="1627632"/>
            <a:ext cx="2377440" cy="310896"/>
          </a:xfrm>
          <a:prstGeom prst="rect">
            <a:avLst/>
          </a:prstGeom>
          <a:noFill/>
          <a:ln/>
        </p:spPr>
        <p:txBody>
          <a:bodyPr wrap="square" lIns="0" tIns="0" rIns="0" bIns="0" rtlCol="0" anchor="ctr"/>
          <a:lstStyle/>
          <a:p>
            <a:pPr marL="0" indent="0">
              <a:buNone/>
            </a:pPr>
            <a:r>
              <a:rPr lang="en-US" sz="1700" b="1" dirty="0">
                <a:solidFill>
                  <a:srgbClr val="0B1F33"/>
                </a:solidFill>
              </a:rPr>
              <a:t>Security baseline</a:t>
            </a:r>
            <a:endParaRPr lang="en-US" sz="1700" dirty="0"/>
          </a:p>
        </p:txBody>
      </p:sp>
      <p:sp>
        <p:nvSpPr>
          <p:cNvPr id="13" name="Text 11"/>
          <p:cNvSpPr/>
          <p:nvPr/>
        </p:nvSpPr>
        <p:spPr>
          <a:xfrm>
            <a:off x="8247888" y="2084832"/>
            <a:ext cx="2926080" cy="2834640"/>
          </a:xfrm>
          <a:prstGeom prst="rect">
            <a:avLst/>
          </a:prstGeom>
          <a:noFill/>
          <a:ln/>
        </p:spPr>
        <p:txBody>
          <a:bodyPr wrap="square" lIns="508" tIns="508" rIns="508" bIns="508" rtlCol="0" anchor="t"/>
          <a:lstStyle/>
          <a:p>
            <a:pPr marL="156464" indent="-156464">
              <a:buSzPct val="100000"/>
              <a:buChar char="•"/>
            </a:pPr>
            <a:r>
              <a:rPr lang="en-US" sz="1120" dirty="0">
                <a:solidFill>
                  <a:srgbClr val="1F2937"/>
                </a:solidFill>
                <a:latin typeface="Aptos" pitchFamily="34" charset="0"/>
                <a:ea typeface="Aptos" pitchFamily="34" charset="-122"/>
                <a:cs typeface="Aptos" pitchFamily="34" charset="-120"/>
              </a:rPr>
              <a:t>Entra ID / OAuth2 production identity</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Managed Identity for App Service</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Key Vault for secrets — never in Git</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TLS and Azure-managed encryption</a:t>
            </a:r>
            <a:endParaRPr lang="en-US" sz="1120" dirty="0"/>
          </a:p>
          <a:p>
            <a:pPr marL="156464" indent="-156464">
              <a:buSzPct val="100000"/>
              <a:buChar char="•"/>
            </a:pPr>
            <a:r>
              <a:rPr lang="en-US" sz="1120" dirty="0">
                <a:solidFill>
                  <a:srgbClr val="1F2937"/>
                </a:solidFill>
                <a:latin typeface="Aptos" pitchFamily="34" charset="0"/>
                <a:ea typeface="Aptos" pitchFamily="34" charset="-122"/>
                <a:cs typeface="Aptos" pitchFamily="34" charset="-120"/>
              </a:rPr>
              <a:t>No claim PII/details in operational logs</a:t>
            </a:r>
            <a:endParaRPr lang="en-US" sz="1120" dirty="0"/>
          </a:p>
        </p:txBody>
      </p:sp>
      <p:sp>
        <p:nvSpPr>
          <p:cNvPr id="14" name="Text 12"/>
          <p:cNvSpPr/>
          <p:nvPr/>
        </p:nvSpPr>
        <p:spPr>
          <a:xfrm>
            <a:off x="1828800" y="5806440"/>
            <a:ext cx="8503920" cy="438912"/>
          </a:xfrm>
          <a:prstGeom prst="rect">
            <a:avLst/>
          </a:prstGeom>
          <a:noFill/>
          <a:ln/>
        </p:spPr>
        <p:txBody>
          <a:bodyPr wrap="square" lIns="0" tIns="0" rIns="0" bIns="0" rtlCol="0" anchor="ctr"/>
          <a:lstStyle/>
          <a:p>
            <a:pPr marL="0" indent="0" algn="ctr">
              <a:buNone/>
            </a:pPr>
            <a:r>
              <a:rPr lang="en-US" sz="1750" b="1" i="1" dirty="0">
                <a:solidFill>
                  <a:srgbClr val="0B1F33"/>
                </a:solidFill>
                <a:latin typeface="Aptos Display" pitchFamily="34" charset="0"/>
                <a:ea typeface="Aptos Display" pitchFamily="34" charset="-122"/>
                <a:cs typeface="Aptos Display" pitchFamily="34" charset="-120"/>
              </a:rPr>
              <a:t>“Vendors implement within the baseline; Indigo owns the guardrails.”</a:t>
            </a:r>
            <a:endParaRPr lang="en-US" sz="1750" dirty="0"/>
          </a:p>
        </p:txBody>
      </p:sp>
      <p:sp>
        <p:nvSpPr>
          <p:cNvPr id="25"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411480"/>
            <a:ext cx="9509760" cy="457200"/>
          </a:xfrm>
          <a:prstGeom prst="rect">
            <a:avLst/>
          </a:prstGeom>
          <a:noFill/>
          <a:ln/>
        </p:spPr>
        <p:txBody>
          <a:bodyPr wrap="square" lIns="0" tIns="0" rIns="0" bIns="0" rtlCol="0" anchor="ctr"/>
          <a:lstStyle/>
          <a:p>
            <a:pPr marL="0" indent="0">
              <a:buNone/>
            </a:pPr>
            <a:r>
              <a:rPr lang="en-US" sz="2500" b="1" dirty="0">
                <a:solidFill>
                  <a:srgbClr val="0B1F33"/>
                </a:solidFill>
                <a:latin typeface="Aptos Display" pitchFamily="34" charset="0"/>
                <a:ea typeface="Aptos Display" pitchFamily="34" charset="-122"/>
                <a:cs typeface="Aptos Display" pitchFamily="34" charset="-120"/>
              </a:rPr>
              <a:t>Trade-offs and closing</a:t>
            </a:r>
            <a:endParaRPr lang="en-US" sz="2500" dirty="0"/>
          </a:p>
        </p:txBody>
      </p:sp>
      <p:sp>
        <p:nvSpPr>
          <p:cNvPr id="3" name="Text 1"/>
          <p:cNvSpPr/>
          <p:nvPr/>
        </p:nvSpPr>
        <p:spPr>
          <a:xfrm>
            <a:off x="676656" y="896112"/>
            <a:ext cx="9784080" cy="329184"/>
          </a:xfrm>
          <a:prstGeom prst="rect">
            <a:avLst/>
          </a:prstGeom>
          <a:noFill/>
          <a:ln/>
        </p:spPr>
        <p:txBody>
          <a:bodyPr wrap="square" lIns="0" tIns="0" rIns="0" bIns="0" rtlCol="0" anchor="ctr"/>
          <a:lstStyle/>
          <a:p>
            <a:pPr marL="0" indent="0">
              <a:buNone/>
            </a:pPr>
            <a:r>
              <a:rPr lang="en-US" sz="1150" dirty="0">
                <a:solidFill>
                  <a:srgbClr val="667085"/>
                </a:solidFill>
                <a:latin typeface="Aptos" pitchFamily="34" charset="0"/>
                <a:ea typeface="Aptos" pitchFamily="34" charset="-122"/>
                <a:cs typeface="Aptos" pitchFamily="34" charset="-120"/>
              </a:rPr>
              <a:t>The brief rewards judgement: add complexity only when a requirement justifies it.</a:t>
            </a:r>
            <a:endParaRPr lang="en-US" sz="1150" dirty="0"/>
          </a:p>
        </p:txBody>
      </p:sp>
      <p:sp>
        <p:nvSpPr>
          <p:cNvPr id="5" name="Shape 3"/>
          <p:cNvSpPr/>
          <p:nvPr/>
        </p:nvSpPr>
        <p:spPr>
          <a:xfrm>
            <a:off x="685800" y="1353312"/>
            <a:ext cx="3520440" cy="1417320"/>
          </a:xfrm>
          <a:prstGeom prst="roundRect">
            <a:avLst>
              <a:gd name="adj" fmla="val 5161"/>
            </a:avLst>
          </a:prstGeom>
          <a:solidFill>
            <a:srgbClr val="FFFFFF"/>
          </a:solidFill>
          <a:ln w="13970">
            <a:solidFill>
              <a:srgbClr val="D7DEE8"/>
            </a:solidFill>
            <a:prstDash val="solid"/>
          </a:ln>
        </p:spPr>
        <p:txBody>
          <a:bodyPr/>
          <a:lstStyle/>
          <a:p>
            <a:endParaRPr lang="en-US"/>
          </a:p>
        </p:txBody>
      </p:sp>
      <p:sp>
        <p:nvSpPr>
          <p:cNvPr id="6" name="Shape 4"/>
          <p:cNvSpPr/>
          <p:nvPr/>
        </p:nvSpPr>
        <p:spPr>
          <a:xfrm>
            <a:off x="685800" y="1353312"/>
            <a:ext cx="73152" cy="1417320"/>
          </a:xfrm>
          <a:prstGeom prst="rect">
            <a:avLst/>
          </a:prstGeom>
          <a:solidFill>
            <a:srgbClr val="1E5AA8"/>
          </a:solidFill>
          <a:ln w="12700">
            <a:solidFill>
              <a:srgbClr val="1E5AA8"/>
            </a:solidFill>
            <a:prstDash val="solid"/>
          </a:ln>
        </p:spPr>
        <p:txBody>
          <a:bodyPr/>
          <a:lstStyle/>
          <a:p>
            <a:endParaRPr lang="en-US"/>
          </a:p>
        </p:txBody>
      </p:sp>
      <p:sp>
        <p:nvSpPr>
          <p:cNvPr id="7" name="Text 5"/>
          <p:cNvSpPr/>
          <p:nvPr/>
        </p:nvSpPr>
        <p:spPr>
          <a:xfrm>
            <a:off x="886968" y="1499616"/>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App Service, not AKS</a:t>
            </a:r>
            <a:endParaRPr lang="en-US" sz="1500" dirty="0"/>
          </a:p>
        </p:txBody>
      </p:sp>
      <p:sp>
        <p:nvSpPr>
          <p:cNvPr id="8" name="Text 6"/>
          <p:cNvSpPr/>
          <p:nvPr/>
        </p:nvSpPr>
        <p:spPr>
          <a:xfrm>
            <a:off x="886968" y="1883664"/>
            <a:ext cx="3200400" cy="75895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One small HTTP API does not justify cluster, ingress, node, upgrade and Kubernetes policy overhead.</a:t>
            </a:r>
            <a:endParaRPr lang="en-US" sz="1050" dirty="0"/>
          </a:p>
        </p:txBody>
      </p:sp>
      <p:sp>
        <p:nvSpPr>
          <p:cNvPr id="9" name="Shape 7"/>
          <p:cNvSpPr/>
          <p:nvPr/>
        </p:nvSpPr>
        <p:spPr>
          <a:xfrm>
            <a:off x="4343400" y="1353312"/>
            <a:ext cx="3520440" cy="1417320"/>
          </a:xfrm>
          <a:prstGeom prst="roundRect">
            <a:avLst>
              <a:gd name="adj" fmla="val 5161"/>
            </a:avLst>
          </a:prstGeom>
          <a:solidFill>
            <a:srgbClr val="FFFFFF"/>
          </a:solidFill>
          <a:ln w="13970">
            <a:solidFill>
              <a:srgbClr val="D7DEE8"/>
            </a:solidFill>
            <a:prstDash val="solid"/>
          </a:ln>
        </p:spPr>
        <p:txBody>
          <a:bodyPr/>
          <a:lstStyle/>
          <a:p>
            <a:endParaRPr lang="en-US"/>
          </a:p>
        </p:txBody>
      </p:sp>
      <p:sp>
        <p:nvSpPr>
          <p:cNvPr id="10" name="Shape 8"/>
          <p:cNvSpPr/>
          <p:nvPr/>
        </p:nvSpPr>
        <p:spPr>
          <a:xfrm>
            <a:off x="4343400" y="1353312"/>
            <a:ext cx="73152" cy="1417320"/>
          </a:xfrm>
          <a:prstGeom prst="rect">
            <a:avLst/>
          </a:prstGeom>
          <a:solidFill>
            <a:srgbClr val="159A9C"/>
          </a:solidFill>
          <a:ln w="12700">
            <a:solidFill>
              <a:srgbClr val="159A9C"/>
            </a:solidFill>
            <a:prstDash val="solid"/>
          </a:ln>
        </p:spPr>
        <p:txBody>
          <a:bodyPr/>
          <a:lstStyle/>
          <a:p>
            <a:endParaRPr lang="en-US"/>
          </a:p>
        </p:txBody>
      </p:sp>
      <p:sp>
        <p:nvSpPr>
          <p:cNvPr id="11" name="Text 9"/>
          <p:cNvSpPr/>
          <p:nvPr/>
        </p:nvSpPr>
        <p:spPr>
          <a:xfrm>
            <a:off x="4544568" y="1499616"/>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No separate Load Balancer</a:t>
            </a:r>
            <a:endParaRPr lang="en-US" sz="1500" dirty="0"/>
          </a:p>
        </p:txBody>
      </p:sp>
      <p:sp>
        <p:nvSpPr>
          <p:cNvPr id="12" name="Text 10"/>
          <p:cNvSpPr/>
          <p:nvPr/>
        </p:nvSpPr>
        <p:spPr>
          <a:xfrm>
            <a:off x="4544568" y="1883664"/>
            <a:ext cx="3200400" cy="75895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App Service scale-out is sufficient for this single-region baseline; global routing is deferred.</a:t>
            </a:r>
            <a:endParaRPr lang="en-US" sz="1050" dirty="0"/>
          </a:p>
        </p:txBody>
      </p:sp>
      <p:sp>
        <p:nvSpPr>
          <p:cNvPr id="13" name="Shape 11"/>
          <p:cNvSpPr/>
          <p:nvPr/>
        </p:nvSpPr>
        <p:spPr>
          <a:xfrm>
            <a:off x="8001000" y="1353312"/>
            <a:ext cx="3520440" cy="1417320"/>
          </a:xfrm>
          <a:prstGeom prst="roundRect">
            <a:avLst>
              <a:gd name="adj" fmla="val 5161"/>
            </a:avLst>
          </a:prstGeom>
          <a:solidFill>
            <a:srgbClr val="FFFFFF"/>
          </a:solidFill>
          <a:ln w="13970">
            <a:solidFill>
              <a:srgbClr val="D7DEE8"/>
            </a:solidFill>
            <a:prstDash val="solid"/>
          </a:ln>
        </p:spPr>
        <p:txBody>
          <a:bodyPr/>
          <a:lstStyle/>
          <a:p>
            <a:endParaRPr lang="en-US"/>
          </a:p>
        </p:txBody>
      </p:sp>
      <p:sp>
        <p:nvSpPr>
          <p:cNvPr id="14" name="Shape 12"/>
          <p:cNvSpPr/>
          <p:nvPr/>
        </p:nvSpPr>
        <p:spPr>
          <a:xfrm>
            <a:off x="8001000" y="1353312"/>
            <a:ext cx="73152" cy="1417320"/>
          </a:xfrm>
          <a:prstGeom prst="rect">
            <a:avLst/>
          </a:prstGeom>
          <a:solidFill>
            <a:srgbClr val="27835E"/>
          </a:solidFill>
          <a:ln w="12700">
            <a:solidFill>
              <a:srgbClr val="27835E"/>
            </a:solidFill>
            <a:prstDash val="solid"/>
          </a:ln>
        </p:spPr>
        <p:txBody>
          <a:bodyPr/>
          <a:lstStyle/>
          <a:p>
            <a:endParaRPr lang="en-US"/>
          </a:p>
        </p:txBody>
      </p:sp>
      <p:sp>
        <p:nvSpPr>
          <p:cNvPr id="15" name="Text 13"/>
          <p:cNvSpPr/>
          <p:nvPr/>
        </p:nvSpPr>
        <p:spPr>
          <a:xfrm>
            <a:off x="8202168" y="1499616"/>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Azure SQL, not NoSQL</a:t>
            </a:r>
            <a:endParaRPr lang="en-US" sz="1500" dirty="0"/>
          </a:p>
        </p:txBody>
      </p:sp>
      <p:sp>
        <p:nvSpPr>
          <p:cNvPr id="16" name="Text 14"/>
          <p:cNvSpPr/>
          <p:nvPr/>
        </p:nvSpPr>
        <p:spPr>
          <a:xfrm>
            <a:off x="8202168" y="1883664"/>
            <a:ext cx="3200400" cy="75895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Claims are structured and transactional, and externalReference needs a hard uniqueness guarantee.</a:t>
            </a:r>
            <a:endParaRPr lang="en-US" sz="1050" dirty="0"/>
          </a:p>
        </p:txBody>
      </p:sp>
      <p:sp>
        <p:nvSpPr>
          <p:cNvPr id="17" name="Shape 15"/>
          <p:cNvSpPr/>
          <p:nvPr/>
        </p:nvSpPr>
        <p:spPr>
          <a:xfrm>
            <a:off x="2514600" y="3063240"/>
            <a:ext cx="3520440" cy="1417320"/>
          </a:xfrm>
          <a:prstGeom prst="roundRect">
            <a:avLst>
              <a:gd name="adj" fmla="val 5161"/>
            </a:avLst>
          </a:prstGeom>
          <a:solidFill>
            <a:srgbClr val="FFFFFF"/>
          </a:solidFill>
          <a:ln w="13970">
            <a:solidFill>
              <a:srgbClr val="D7DEE8"/>
            </a:solidFill>
            <a:prstDash val="solid"/>
          </a:ln>
        </p:spPr>
        <p:txBody>
          <a:bodyPr/>
          <a:lstStyle/>
          <a:p>
            <a:endParaRPr lang="en-US"/>
          </a:p>
        </p:txBody>
      </p:sp>
      <p:sp>
        <p:nvSpPr>
          <p:cNvPr id="18" name="Shape 16"/>
          <p:cNvSpPr/>
          <p:nvPr/>
        </p:nvSpPr>
        <p:spPr>
          <a:xfrm>
            <a:off x="2514600" y="3063240"/>
            <a:ext cx="73152" cy="1417320"/>
          </a:xfrm>
          <a:prstGeom prst="rect">
            <a:avLst/>
          </a:prstGeom>
          <a:solidFill>
            <a:srgbClr val="D9911B"/>
          </a:solidFill>
          <a:ln w="12700">
            <a:solidFill>
              <a:srgbClr val="D9911B"/>
            </a:solidFill>
            <a:prstDash val="solid"/>
          </a:ln>
        </p:spPr>
        <p:txBody>
          <a:bodyPr/>
          <a:lstStyle/>
          <a:p>
            <a:endParaRPr lang="en-US"/>
          </a:p>
        </p:txBody>
      </p:sp>
      <p:sp>
        <p:nvSpPr>
          <p:cNvPr id="19" name="Text 17"/>
          <p:cNvSpPr/>
          <p:nvPr/>
        </p:nvSpPr>
        <p:spPr>
          <a:xfrm>
            <a:off x="2715768" y="3209544"/>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No messaging platform yet</a:t>
            </a:r>
            <a:endParaRPr lang="en-US" sz="1500" dirty="0"/>
          </a:p>
        </p:txBody>
      </p:sp>
      <p:sp>
        <p:nvSpPr>
          <p:cNvPr id="20" name="Text 18"/>
          <p:cNvSpPr/>
          <p:nvPr/>
        </p:nvSpPr>
        <p:spPr>
          <a:xfrm>
            <a:off x="2715768" y="3593592"/>
            <a:ext cx="3200400" cy="75895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No asynchronous integration requirement exists. Service Bus/Kafka comes later only if a real workflow needs it.</a:t>
            </a:r>
            <a:endParaRPr lang="en-US" sz="1050" dirty="0"/>
          </a:p>
        </p:txBody>
      </p:sp>
      <p:sp>
        <p:nvSpPr>
          <p:cNvPr id="21" name="Shape 19"/>
          <p:cNvSpPr/>
          <p:nvPr/>
        </p:nvSpPr>
        <p:spPr>
          <a:xfrm>
            <a:off x="6172200" y="3063240"/>
            <a:ext cx="3520440" cy="1417320"/>
          </a:xfrm>
          <a:prstGeom prst="roundRect">
            <a:avLst>
              <a:gd name="adj" fmla="val 5161"/>
            </a:avLst>
          </a:prstGeom>
          <a:solidFill>
            <a:srgbClr val="FFFFFF"/>
          </a:solidFill>
          <a:ln w="13970">
            <a:solidFill>
              <a:srgbClr val="D7DEE8"/>
            </a:solidFill>
            <a:prstDash val="solid"/>
          </a:ln>
        </p:spPr>
        <p:txBody>
          <a:bodyPr/>
          <a:lstStyle/>
          <a:p>
            <a:endParaRPr lang="en-US"/>
          </a:p>
        </p:txBody>
      </p:sp>
      <p:sp>
        <p:nvSpPr>
          <p:cNvPr id="22" name="Shape 20"/>
          <p:cNvSpPr/>
          <p:nvPr/>
        </p:nvSpPr>
        <p:spPr>
          <a:xfrm>
            <a:off x="6172200" y="3063240"/>
            <a:ext cx="73152" cy="1417320"/>
          </a:xfrm>
          <a:prstGeom prst="rect">
            <a:avLst/>
          </a:prstGeom>
          <a:solidFill>
            <a:srgbClr val="B84A4A"/>
          </a:solidFill>
          <a:ln w="12700">
            <a:solidFill>
              <a:srgbClr val="B84A4A"/>
            </a:solidFill>
            <a:prstDash val="solid"/>
          </a:ln>
        </p:spPr>
        <p:txBody>
          <a:bodyPr/>
          <a:lstStyle/>
          <a:p>
            <a:endParaRPr lang="en-US"/>
          </a:p>
        </p:txBody>
      </p:sp>
      <p:sp>
        <p:nvSpPr>
          <p:cNvPr id="23" name="Text 21"/>
          <p:cNvSpPr/>
          <p:nvPr/>
        </p:nvSpPr>
        <p:spPr>
          <a:xfrm>
            <a:off x="6373368" y="3209544"/>
            <a:ext cx="3200400" cy="292608"/>
          </a:xfrm>
          <a:prstGeom prst="rect">
            <a:avLst/>
          </a:prstGeom>
          <a:noFill/>
          <a:ln/>
        </p:spPr>
        <p:txBody>
          <a:bodyPr wrap="square" lIns="0" tIns="0" rIns="0" bIns="0" rtlCol="0" anchor="ctr"/>
          <a:lstStyle/>
          <a:p>
            <a:pPr marL="0" indent="0">
              <a:buNone/>
            </a:pPr>
            <a:r>
              <a:rPr lang="en-US" sz="1500" b="1" dirty="0">
                <a:solidFill>
                  <a:srgbClr val="0B1F33"/>
                </a:solidFill>
                <a:latin typeface="Aptos" pitchFamily="34" charset="0"/>
                <a:ea typeface="Aptos" pitchFamily="34" charset="-122"/>
                <a:cs typeface="Aptos" pitchFamily="34" charset="-120"/>
              </a:rPr>
              <a:t>No application build</a:t>
            </a:r>
            <a:endParaRPr lang="en-US" sz="1500" dirty="0"/>
          </a:p>
        </p:txBody>
      </p:sp>
      <p:sp>
        <p:nvSpPr>
          <p:cNvPr id="24" name="Text 22"/>
          <p:cNvSpPr/>
          <p:nvPr/>
        </p:nvSpPr>
        <p:spPr>
          <a:xfrm>
            <a:off x="6373368" y="3593592"/>
            <a:ext cx="3200400" cy="758952"/>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Full .NET service code is explicitly out of scope. The deliverable is the governed baseline a vendor will implement against.</a:t>
            </a:r>
            <a:endParaRPr lang="en-US" sz="1050" dirty="0"/>
          </a:p>
        </p:txBody>
      </p:sp>
      <p:sp>
        <p:nvSpPr>
          <p:cNvPr id="25" name="Shape 23"/>
          <p:cNvSpPr/>
          <p:nvPr/>
        </p:nvSpPr>
        <p:spPr>
          <a:xfrm>
            <a:off x="1143000" y="4892040"/>
            <a:ext cx="9921240" cy="896112"/>
          </a:xfrm>
          <a:prstGeom prst="roundRect">
            <a:avLst/>
          </a:prstGeom>
          <a:solidFill>
            <a:srgbClr val="0B1F33"/>
          </a:solidFill>
          <a:ln w="12700">
            <a:solidFill>
              <a:srgbClr val="0B1F33"/>
            </a:solidFill>
            <a:prstDash val="solid"/>
          </a:ln>
        </p:spPr>
        <p:txBody>
          <a:bodyPr/>
          <a:lstStyle/>
          <a:p>
            <a:endParaRPr lang="en-US"/>
          </a:p>
        </p:txBody>
      </p:sp>
      <p:sp>
        <p:nvSpPr>
          <p:cNvPr id="26" name="Text 24"/>
          <p:cNvSpPr/>
          <p:nvPr/>
        </p:nvSpPr>
        <p:spPr>
          <a:xfrm>
            <a:off x="1417320" y="5184648"/>
            <a:ext cx="9372600" cy="310896"/>
          </a:xfrm>
          <a:prstGeom prst="rect">
            <a:avLst/>
          </a:prstGeom>
          <a:noFill/>
          <a:ln/>
        </p:spPr>
        <p:txBody>
          <a:bodyPr wrap="square" lIns="0" tIns="0" rIns="0" bIns="0" rtlCol="0" anchor="ctr"/>
          <a:lstStyle/>
          <a:p>
            <a:pPr marL="0" indent="0" algn="ctr">
              <a:buNone/>
            </a:pPr>
            <a:r>
              <a:rPr lang="en-US" sz="1540" b="1" dirty="0">
                <a:solidFill>
                  <a:srgbClr val="FFFFFF"/>
                </a:solidFill>
                <a:latin typeface="Aptos Display" pitchFamily="34" charset="0"/>
                <a:ea typeface="Aptos Display" pitchFamily="34" charset="-122"/>
                <a:cs typeface="Aptos Display" pitchFamily="34" charset="-120"/>
              </a:rPr>
              <a:t>Repeatable Azure infrastructure • externalised secrets • built-in observability • parameterised environments • Indigo-controlled Production</a:t>
            </a:r>
            <a:endParaRPr lang="en-US" sz="1540" dirty="0"/>
          </a:p>
        </p:txBody>
      </p:sp>
      <p:sp>
        <p:nvSpPr>
          <p:cNvPr id="28" name="Slide Number Placeholder 0"/>
          <p:cNvSpPr>
            <a:spLocks noGrp="1"/>
          </p:cNvSpPr>
          <p:nvPr>
            <p:ph type="sldNum" sz="quarter" idx="4294967295"/>
          </p:nvPr>
        </p:nvSpPr>
        <p:spPr>
          <a:xfrm>
            <a:off x="11631168" y="6501384"/>
            <a:ext cx="2286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6C7A89"/>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2002</Words>
  <Application>Microsoft Office PowerPoint</Application>
  <PresentationFormat>Widescreen</PresentationFormat>
  <Paragraphs>146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Indigo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Indigo Claims Intake - Final 5-10 Minute Video Presentation</dc:title>
  <dc:subject>Indigo Claims Intake Technical Governance Vetting Assignment</dc:subject>
  <dc:creator>Charles Nolte</dc:creator>
  <cp:lastModifiedBy>Charles Nolte</cp:lastModifiedBy>
  <cp:revision>2</cp:revision>
  <dcterms:created xsi:type="dcterms:W3CDTF">2026-08-31T13:07:39Z</dcterms:created>
  <dcterms:modified xsi:type="dcterms:W3CDTF">2026-08-31T17:12:15Z</dcterms:modified>
</cp:coreProperties>
</file>